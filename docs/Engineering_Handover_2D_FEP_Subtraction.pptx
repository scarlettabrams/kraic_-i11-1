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8dac7ef-5c9f-8400-4d56-f65d42329f2c}">
          <p14:sldIdLst>
            <p14:sldId id="256"/>
            <p14:sldId id="257"/>
            <p14:sldId id="258"/>
          </p14:sldIdLst>
        </p14:section>
        <p14:section name="How it works" id="{92839e96-2814-fb08-58f8-0c5d371ff80f}">
          <p14:sldIdLst>
            <p14:sldId id="259"/>
            <p14:sldId id="263"/>
          </p14:sldIdLst>
        </p14:section>
        <p14:section name="Real data" id="{22fd15aa-184c-fb88-1144-0be8136b5b42}">
          <p14:sldIdLst>
            <p14:sldId id="260"/>
            <p14:sldId id="261"/>
            <p14:sldId id="262"/>
          </p14:sldIdLst>
        </p14:section>
        <p14:section name="Reliability" id="{e7913ddd-ef9c-c13e-7eba-9e67c5ac2c97}">
          <p14:sldIdLst>
            <p14:sldId id="264"/>
            <p14:sldId id="265"/>
            <p14:sldId id="266"/>
          </p14:sldIdLst>
        </p14:section>
        <p14:section name="Decisions" id="{3da8bf9e-00f2-9807-56b5-87a1ee7c303d}">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meeting: show the working Python script that removes FEP tube scattering from each raw 2D frame, explain exactly what it does, and decide together whether and how it can be automated at the beamline.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is deliberately small. Everything the engineer needs to know about interfaces is on this slide. The reference is built beforehand in the offline app from tube-only frames; during the experiment only the subtraction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Python files and the usual scientific stack. The calibration is needed only to build the 2theta mask that hides the strong FEP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a few lines of numpy. The only non-trivial part is the iterative clipping in the scale fit, which is what keeps crystal peaks from biasing the fitted scale. The whole detector is used for the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frame from the AP39 trial, run 007, frame 146570. Left: raw, display saturated so the weak outer rings are visible. Right: after subtraction with the merged 70:30 reference. White is masked: the 5.30 to 6.10 degree ring and the beam-stop shadow. Small bright marks near the ring are crystal spots. A smooth halo remains and is removed by baselining later in the offline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frame 146570 averaged in rings around the beam centre, with the centre found from the masked annulus. Left is log scale. The raw profile has the tube peak near 250 pixels and the solvent halo. After subtraction the sharp features are gone but a smooth residual stays, because one global scale cannot match the solvent halo exactly. It is smooth, so baselining removes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scale is fitted per frame: it moves from frame to frame by several per cent. This is the diagnostic the inline version would log and monitor. Source: subtraction_diagnostics.csv from the offline app run on 19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Either hand it numpy arrays from your own acquisition code, or point it at files or a folder. process() catches all exceptions and reports them in the result, so it cannot take down a calling loop. State such as the scale history is held in the object; it has not been tested for concurrent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failures never reach the output folder. Soft flags are in inline_log.csv, so a monitoring layer can alert on them. A drifting scale is the main sign that the reference no longer matches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format and names match the offline app's subtract tab, so existing downstream tools read it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what has and has not been measured. Timing and the identical-output check are real measurements on recorded frames. Memory and live-feed behaviour are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things that would surprise an engineer. The blind window is the scientific trade-off for hiding the strong FEP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we need from the engineer. The code supports both file and array input, so the first question is about the surrounding system, not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100" dirty="0">
                <a:solidFill>
                  <a:schemeClr val="accent5"/>
                </a:solidFill>
              </a:rPr>
              <a:t>FEP frame subtraction  |  engineering handover</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5852160" cy="18288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4114800"/>
            <a:ext cx="6400800" cy="914400"/>
          </a:xfrm>
          <a:prstGeom prst="rect">
            <a:avLst/>
          </a:prstGeom>
          <a:noFill/>
          <a:ln/>
        </p:spPr>
        <p:txBody>
          <a:bodyPr wrap="square" rtlCol="0"/>
          <a:lstStyle>
            <a:lvl1pPr algn="l" indent="0" marL="0">
              <a:buNone/>
              <a:defRPr lang="en-US" sz="2400" dirty="0">
                <a:solidFill>
                  <a:schemeClr val="accent4"/>
                </a:solidFill>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5852160" cy="1828800"/>
          </a:xfrm>
          <a:prstGeom prst="rect">
            <a:avLst/>
          </a:prstGeom>
          <a:noFill/>
          <a:ln/>
        </p:spPr>
        <p:txBody>
          <a:bodyPr wrap="square" lIns="0" tIns="0" rIns="0" bIns="0" rtlCol="0" anchor="b"/>
          <a:lstStyle/>
          <a:p>
            <a:pPr algn="l" indent="0" marL="0">
              <a:buNone/>
            </a:pPr>
            <a:r>
              <a:rPr lang="en-US" sz="4600" b="1" dirty="0">
                <a:solidFill>
                  <a:schemeClr val="bg1"/>
                </a:solidFill>
              </a:rPr>
              <a:t>2D FEP frame subtraction</a:t>
            </a:r>
            <a:endParaRPr lang="en-US" sz="4600" dirty="0"/>
          </a:p>
        </p:txBody>
      </p:sp>
      <p:sp>
        <p:nvSpPr>
          <p:cNvPr id="3" name="Text 0"/>
          <p:cNvSpPr/>
          <p:nvPr>
            <p:ph idx="101" type="body" hasCustomPrompt="1"/>
          </p:nvPr>
        </p:nvSpPr>
        <p:spPr>
          <a:xfrm>
            <a:off x="731520" y="4114800"/>
            <a:ext cx="6400800" cy="914400"/>
          </a:xfrm>
          <a:prstGeom prst="rect">
            <a:avLst/>
          </a:prstGeom>
          <a:noFill/>
          <a:ln/>
        </p:spPr>
        <p:txBody>
          <a:bodyPr wrap="square" lIns="0" tIns="0" rIns="0" bIns="0" rtlCol="0" anchor="t"/>
          <a:lstStyle/>
          <a:p>
            <a:pPr algn="l" indent="0" marL="0">
              <a:buNone/>
            </a:pPr>
            <a:r>
              <a:rPr lang="en-US" sz="2400" dirty="0">
                <a:solidFill>
                  <a:schemeClr val="accent4"/>
                </a:solidFill>
              </a:rPr>
              <a:t>Can we run it inline on the beamline?</a:t>
            </a:r>
            <a:endParaRPr lang="en-US" sz="2400" dirty="0"/>
          </a:p>
        </p:txBody>
      </p:sp>
      <p:sp>
        <p:nvSpPr>
          <p:cNvPr id="4" name="Date line"/>
          <p:cNvSpPr txBox="1"/>
          <p:nvPr/>
        </p:nvSpPr>
        <p:spPr>
          <a:xfrm>
            <a:off x="731520" y="5943600"/>
            <a:ext cx="8229600" cy="365760"/>
          </a:xfrm>
          <a:prstGeom prst="rect">
            <a:avLst/>
          </a:prstGeom>
          <a:noFill/>
          <a:ln/>
        </p:spPr>
        <p:txBody>
          <a:bodyPr wrap="square" lIns="0" tIns="0" rIns="0" bIns="0" rtlCol="0" anchor="ctr"/>
          <a:lstStyle/>
          <a:p>
            <a:pPr indent="0" marL="0">
              <a:buNone/>
            </a:pPr>
            <a:r>
              <a:rPr lang="en-US" sz="1400" dirty="0">
                <a:solidFill>
                  <a:schemeClr val="accent6"/>
                </a:solidFill>
              </a:rPr>
              <a:t>I11 PXRD pipeline  |  engineering handover  |  October 2026</a:t>
            </a:r>
            <a:endParaRPr lang="en-US" sz="1400" dirty="0"/>
          </a:p>
        </p:txBody>
      </p:sp>
      <p:sp>
        <p:nvSpPr>
          <p:cNvPr id="5" name="Ring 1"/>
          <p:cNvSpPr/>
          <p:nvPr/>
        </p:nvSpPr>
        <p:spPr>
          <a:xfrm>
            <a:off x="8778240" y="2697480"/>
            <a:ext cx="1463040" cy="1463040"/>
          </a:xfrm>
          <a:prstGeom prst="ellipse">
            <a:avLst/>
          </a:prstGeom>
          <a:solidFill>
            <a:schemeClr val="tx2">
              <a:alpha val="0"/>
            </a:schemeClr>
          </a:solidFill>
          <a:ln w="38100">
            <a:solidFill>
              <a:schemeClr val="accent1"/>
            </a:solidFill>
            <a:prstDash val="solid"/>
          </a:ln>
        </p:spPr>
      </p:sp>
      <p:sp>
        <p:nvSpPr>
          <p:cNvPr id="6" name="Ring 2"/>
          <p:cNvSpPr/>
          <p:nvPr/>
        </p:nvSpPr>
        <p:spPr>
          <a:xfrm>
            <a:off x="8138160" y="2057400"/>
            <a:ext cx="2743200" cy="2743200"/>
          </a:xfrm>
          <a:prstGeom prst="ellipse">
            <a:avLst/>
          </a:prstGeom>
          <a:solidFill>
            <a:schemeClr val="tx2">
              <a:alpha val="0"/>
            </a:schemeClr>
          </a:solidFill>
          <a:ln w="38100">
            <a:solidFill>
              <a:schemeClr val="accent1"/>
            </a:solidFill>
            <a:prstDash val="solid"/>
          </a:ln>
        </p:spPr>
      </p:sp>
      <p:sp>
        <p:nvSpPr>
          <p:cNvPr id="7" name="Ring 3"/>
          <p:cNvSpPr/>
          <p:nvPr/>
        </p:nvSpPr>
        <p:spPr>
          <a:xfrm>
            <a:off x="7498080" y="1417320"/>
            <a:ext cx="4023360" cy="4023360"/>
          </a:xfrm>
          <a:prstGeom prst="ellipse">
            <a:avLst/>
          </a:prstGeom>
          <a:solidFill>
            <a:schemeClr val="tx2">
              <a:alpha val="0"/>
            </a:schemeClr>
          </a:solidFill>
          <a:ln w="38100">
            <a:solidFill>
              <a:schemeClr val="accent1"/>
            </a:solidFill>
            <a:prstDash val="solid"/>
          </a:ln>
        </p:spPr>
      </p:sp>
      <p:sp>
        <p:nvSpPr>
          <p:cNvPr id="8" name="Ring 4"/>
          <p:cNvSpPr/>
          <p:nvPr/>
        </p:nvSpPr>
        <p:spPr>
          <a:xfrm>
            <a:off x="6903720" y="822960"/>
            <a:ext cx="5212080" cy="5212080"/>
          </a:xfrm>
          <a:prstGeom prst="ellipse">
            <a:avLst/>
          </a:prstGeom>
          <a:solidFill>
            <a:schemeClr val="tx2">
              <a:alpha val="0"/>
            </a:schemeClr>
          </a:solidFill>
          <a:ln w="381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it does: one frame in, one frame out</a:t>
            </a:r>
            <a:endParaRPr lang="en-US" sz="3600" dirty="0"/>
          </a:p>
        </p:txBody>
      </p:sp>
      <p:sp>
        <p:nvSpPr>
          <p:cNvPr id="3" name="Header In"/>
          <p:cNvSpPr txBox="1"/>
          <p:nvPr/>
        </p:nvSpPr>
        <p:spPr>
          <a:xfrm>
            <a:off x="548640" y="1463040"/>
            <a:ext cx="338328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2200" b="1" dirty="0">
                <a:solidFill>
                  <a:schemeClr val="bg1"/>
                </a:solidFill>
              </a:rPr>
              <a:t>In</a:t>
            </a:r>
            <a:endParaRPr lang="en-US" sz="2200" dirty="0"/>
          </a:p>
        </p:txBody>
      </p:sp>
      <p:sp>
        <p:nvSpPr>
          <p:cNvPr id="4" name="Body In"/>
          <p:cNvSpPr/>
          <p:nvPr/>
        </p:nvSpPr>
        <p:spPr>
          <a:xfrm>
            <a:off x="548640" y="2194560"/>
            <a:ext cx="3383280" cy="2377440"/>
          </a:xfrm>
          <a:prstGeom prst="roundRect">
            <a:avLst>
              <a:gd name="adj" fmla="val 4615"/>
            </a:avLst>
          </a:prstGeom>
          <a:solidFill>
            <a:schemeClr val="bg2"/>
          </a:solidFill>
          <a:ln/>
        </p:spPr>
      </p:sp>
      <p:sp>
        <p:nvSpPr>
          <p:cNvPr id="5" name="List In"/>
          <p:cNvSpPr txBox="1"/>
          <p:nvPr/>
        </p:nvSpPr>
        <p:spPr>
          <a:xfrm>
            <a:off x="777240" y="2377440"/>
            <a:ext cx="29260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Raw 2D frame (Pixium, 2881 x 2880)</a:t>
            </a:r>
            <a:endParaRPr lang="en-US" sz="1600" dirty="0"/>
          </a:p>
          <a:p>
            <a:pPr marL="342900" indent="-342900">
              <a:spcAft>
                <a:spcPts val="1000"/>
              </a:spcAft>
              <a:buSzPct val="100000"/>
              <a:buChar char="•"/>
            </a:pPr>
            <a:r>
              <a:rPr lang="en-US" sz="1600" dirty="0">
                <a:solidFill>
                  <a:schemeClr val="tx1"/>
                </a:solidFill>
              </a:rPr>
              <a:t>Merged reference (.npz)</a:t>
            </a:r>
            <a:endParaRPr lang="en-US" sz="1600" dirty="0"/>
          </a:p>
          <a:p>
            <a:pPr marL="342900" indent="-342900">
              <a:spcAft>
                <a:spcPts val="1000"/>
              </a:spcAft>
              <a:buSzPct val="100000"/>
              <a:buChar char="•"/>
            </a:pPr>
            <a:r>
              <a:rPr lang="en-US" sz="1600" dirty="0">
                <a:solidFill>
                  <a:schemeClr val="tx1"/>
                </a:solidFill>
              </a:rPr>
              <a:t>Calibration (.poni) and detector mask (.npy)</a:t>
            </a:r>
            <a:endParaRPr lang="en-US" sz="1600" dirty="0"/>
          </a:p>
        </p:txBody>
      </p:sp>
      <p:sp>
        <p:nvSpPr>
          <p:cNvPr id="6" name="Arrow 1"/>
          <p:cNvSpPr txBox="1"/>
          <p:nvPr/>
        </p:nvSpPr>
        <p:spPr>
          <a:xfrm>
            <a:off x="3931920" y="2926080"/>
            <a:ext cx="457200" cy="548640"/>
          </a:xfrm>
          <a:prstGeom prst="rect">
            <a:avLst/>
          </a:prstGeom>
          <a:noFill/>
          <a:ln/>
        </p:spPr>
        <p:txBody>
          <a:bodyPr wrap="square" lIns="0" tIns="0" rIns="0" bIns="0" rtlCol="0" anchor="ctr"/>
          <a:lstStyle/>
          <a:p>
            <a:pPr algn="ctr" indent="0" marL="0">
              <a:buNone/>
            </a:pPr>
            <a:r>
              <a:rPr lang="en-US" sz="2800" dirty="0">
                <a:solidFill>
                  <a:schemeClr val="accent5"/>
                </a:solidFill>
              </a:rPr>
              <a:t>➜</a:t>
            </a:r>
            <a:endParaRPr lang="en-US" sz="2800" dirty="0"/>
          </a:p>
        </p:txBody>
      </p:sp>
      <p:sp>
        <p:nvSpPr>
          <p:cNvPr id="7" name="Header Process"/>
          <p:cNvSpPr txBox="1"/>
          <p:nvPr/>
        </p:nvSpPr>
        <p:spPr>
          <a:xfrm>
            <a:off x="4389120" y="1463040"/>
            <a:ext cx="3383280" cy="640080"/>
          </a:xfrm>
          <a:prstGeom prst="roundRect">
            <a:avLst>
              <a:gd name="adj" fmla="val 17143"/>
            </a:avLst>
          </a:prstGeom>
          <a:solidFill>
            <a:schemeClr val="accent1"/>
          </a:solidFill>
          <a:ln/>
        </p:spPr>
        <p:txBody>
          <a:bodyPr wrap="square" lIns="0" tIns="0" rIns="0" bIns="0" rtlCol="0" anchor="ctr"/>
          <a:lstStyle/>
          <a:p>
            <a:pPr algn="ctr" indent="0" marL="0">
              <a:buNone/>
            </a:pPr>
            <a:r>
              <a:rPr lang="en-US" sz="2200" b="1" dirty="0">
                <a:solidFill>
                  <a:schemeClr val="bg1"/>
                </a:solidFill>
              </a:rPr>
              <a:t>Process</a:t>
            </a:r>
            <a:endParaRPr lang="en-US" sz="2200" dirty="0"/>
          </a:p>
        </p:txBody>
      </p:sp>
      <p:sp>
        <p:nvSpPr>
          <p:cNvPr id="8" name="Body Process"/>
          <p:cNvSpPr/>
          <p:nvPr/>
        </p:nvSpPr>
        <p:spPr>
          <a:xfrm>
            <a:off x="4389120" y="2194560"/>
            <a:ext cx="3383280" cy="2377440"/>
          </a:xfrm>
          <a:prstGeom prst="roundRect">
            <a:avLst>
              <a:gd name="adj" fmla="val 4615"/>
            </a:avLst>
          </a:prstGeom>
          <a:solidFill>
            <a:schemeClr val="bg2"/>
          </a:solidFill>
          <a:ln/>
        </p:spPr>
      </p:sp>
      <p:sp>
        <p:nvSpPr>
          <p:cNvPr id="9" name="List Process"/>
          <p:cNvSpPr txBox="1"/>
          <p:nvPr/>
        </p:nvSpPr>
        <p:spPr>
          <a:xfrm>
            <a:off x="4617720" y="2377440"/>
            <a:ext cx="29260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Fit one scale s per frame</a:t>
            </a:r>
            <a:endParaRPr lang="en-US" sz="1600" dirty="0"/>
          </a:p>
          <a:p>
            <a:pPr marL="342900" indent="-342900">
              <a:spcAft>
                <a:spcPts val="1000"/>
              </a:spcAft>
              <a:buSzPct val="100000"/>
              <a:buChar char="•"/>
            </a:pPr>
            <a:r>
              <a:rPr lang="en-US" sz="1600" dirty="0">
                <a:solidFill>
                  <a:schemeClr val="tx1"/>
                </a:solidFill>
              </a:rPr>
              <a:t>corrected = frame − s × reference</a:t>
            </a:r>
            <a:endParaRPr lang="en-US" sz="1600" dirty="0"/>
          </a:p>
          <a:p>
            <a:pPr marL="342900" indent="-342900">
              <a:spcAft>
                <a:spcPts val="1000"/>
              </a:spcAft>
              <a:buSzPct val="100000"/>
              <a:buChar char="•"/>
            </a:pPr>
            <a:r>
              <a:rPr lang="en-US" sz="1600" dirty="0">
                <a:solidFill>
                  <a:schemeClr val="tx1"/>
                </a:solidFill>
              </a:rPr>
              <a:t>Mask pixels, keep negatives</a:t>
            </a:r>
            <a:endParaRPr lang="en-US" sz="1600" dirty="0"/>
          </a:p>
        </p:txBody>
      </p:sp>
      <p:sp>
        <p:nvSpPr>
          <p:cNvPr id="10" name="Arrow 2"/>
          <p:cNvSpPr txBox="1"/>
          <p:nvPr/>
        </p:nvSpPr>
        <p:spPr>
          <a:xfrm>
            <a:off x="7772400" y="2926080"/>
            <a:ext cx="457200" cy="548640"/>
          </a:xfrm>
          <a:prstGeom prst="rect">
            <a:avLst/>
          </a:prstGeom>
          <a:noFill/>
          <a:ln/>
        </p:spPr>
        <p:txBody>
          <a:bodyPr wrap="square" lIns="0" tIns="0" rIns="0" bIns="0" rtlCol="0" anchor="ctr"/>
          <a:lstStyle/>
          <a:p>
            <a:pPr algn="ctr" indent="0" marL="0">
              <a:buNone/>
            </a:pPr>
            <a:r>
              <a:rPr lang="en-US" sz="2800" dirty="0">
                <a:solidFill>
                  <a:schemeClr val="accent5"/>
                </a:solidFill>
              </a:rPr>
              <a:t>➜</a:t>
            </a:r>
            <a:endParaRPr lang="en-US" sz="2800" dirty="0"/>
          </a:p>
        </p:txBody>
      </p:sp>
      <p:sp>
        <p:nvSpPr>
          <p:cNvPr id="11" name="Header Out"/>
          <p:cNvSpPr txBox="1"/>
          <p:nvPr/>
        </p:nvSpPr>
        <p:spPr>
          <a:xfrm>
            <a:off x="8229600" y="1463040"/>
            <a:ext cx="3383280" cy="640080"/>
          </a:xfrm>
          <a:prstGeom prst="roundRect">
            <a:avLst>
              <a:gd name="adj" fmla="val 17143"/>
            </a:avLst>
          </a:prstGeom>
          <a:solidFill>
            <a:schemeClr val="accent2"/>
          </a:solidFill>
          <a:ln/>
        </p:spPr>
        <p:txBody>
          <a:bodyPr wrap="square" lIns="0" tIns="0" rIns="0" bIns="0" rtlCol="0" anchor="ctr"/>
          <a:lstStyle/>
          <a:p>
            <a:pPr algn="ctr" indent="0" marL="0">
              <a:buNone/>
            </a:pPr>
            <a:r>
              <a:rPr lang="en-US" sz="2200" b="1" dirty="0">
                <a:solidFill>
                  <a:schemeClr val="tx2"/>
                </a:solidFill>
              </a:rPr>
              <a:t>Out</a:t>
            </a:r>
            <a:endParaRPr lang="en-US" sz="2200" dirty="0"/>
          </a:p>
        </p:txBody>
      </p:sp>
      <p:sp>
        <p:nvSpPr>
          <p:cNvPr id="12" name="Body Out"/>
          <p:cNvSpPr/>
          <p:nvPr/>
        </p:nvSpPr>
        <p:spPr>
          <a:xfrm>
            <a:off x="8229600" y="2194560"/>
            <a:ext cx="3383280" cy="2377440"/>
          </a:xfrm>
          <a:prstGeom prst="roundRect">
            <a:avLst>
              <a:gd name="adj" fmla="val 4615"/>
            </a:avLst>
          </a:prstGeom>
          <a:solidFill>
            <a:schemeClr val="bg2"/>
          </a:solidFill>
          <a:ln/>
        </p:spPr>
      </p:sp>
      <p:sp>
        <p:nvSpPr>
          <p:cNvPr id="13" name="List Out"/>
          <p:cNvSpPr txBox="1"/>
          <p:nvPr/>
        </p:nvSpPr>
        <p:spPr>
          <a:xfrm>
            <a:off x="8458200" y="2377440"/>
            <a:ext cx="29260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Corrected 2D frame, float32</a:t>
            </a:r>
            <a:endParaRPr lang="en-US" sz="1600" dirty="0"/>
          </a:p>
          <a:p>
            <a:pPr marL="342900" indent="-342900">
              <a:spcAft>
                <a:spcPts val="1000"/>
              </a:spcAft>
              <a:buSzPct val="100000"/>
              <a:buChar char="•"/>
            </a:pPr>
            <a:r>
              <a:rPr lang="en-US" sz="1600" dirty="0">
                <a:solidFill>
                  <a:schemeClr val="tx1"/>
                </a:solidFill>
              </a:rPr>
              <a:t>Same file name as the raw frame</a:t>
            </a:r>
            <a:endParaRPr lang="en-US" sz="1600" dirty="0"/>
          </a:p>
          <a:p>
            <a:pPr marL="342900" indent="-342900">
              <a:spcAft>
                <a:spcPts val="1000"/>
              </a:spcAft>
              <a:buSzPct val="100000"/>
              <a:buChar char="•"/>
            </a:pPr>
            <a:r>
              <a:rPr lang="en-US" sz="1600" dirty="0">
                <a:solidFill>
                  <a:schemeClr val="tx1"/>
                </a:solidFill>
              </a:rPr>
              <a:t>Per-frame scale and quality flags</a:t>
            </a:r>
            <a:endParaRPr lang="en-US" sz="1600" dirty="0"/>
          </a:p>
        </p:txBody>
      </p:sp>
      <p:sp>
        <p:nvSpPr>
          <p:cNvPr id="14" name="Text 12"/>
          <p:cNvSpPr txBox="1"/>
          <p:nvPr/>
        </p:nvSpPr>
        <p:spPr>
          <a:xfrm>
            <a:off x="548640" y="5029200"/>
            <a:ext cx="11064240" cy="822960"/>
          </a:xfrm>
          <a:prstGeom prst="rect">
            <a:avLst/>
          </a:prstGeom>
          <a:noFill/>
          <a:ln/>
        </p:spPr>
        <p:txBody>
          <a:bodyPr wrap="square" lIns="0" tIns="0" rIns="0" bIns="0" rtlCol="0" anchor="t"/>
          <a:lstStyle/>
          <a:p>
            <a:pPr indent="0" marL="0">
              <a:buNone/>
            </a:pPr>
            <a:r>
              <a:rPr lang="en-US" sz="1800" b="1" dirty="0">
                <a:solidFill>
                  <a:schemeClr val="accent1"/>
                </a:solidFill>
              </a:rPr>
              <a:t>Scope: this stage only produces the clean 2D frame. Hit sorting, integration and baselining happen afterwards in the offline app.</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you need to run it</a:t>
            </a:r>
            <a:endParaRPr lang="en-US" sz="3600" dirty="0"/>
          </a:p>
        </p:txBody>
      </p:sp>
      <p:sp>
        <p:nvSpPr>
          <p:cNvPr id="3" name="File row 1"/>
          <p:cNvSpPr/>
          <p:nvPr/>
        </p:nvSpPr>
        <p:spPr>
          <a:xfrm>
            <a:off x="548640" y="1463040"/>
            <a:ext cx="11064240" cy="731520"/>
          </a:xfrm>
          <a:prstGeom prst="roundRect">
            <a:avLst>
              <a:gd name="adj" fmla="val 15000"/>
            </a:avLst>
          </a:prstGeom>
          <a:solidFill>
            <a:schemeClr val="bg2"/>
          </a:solidFill>
          <a:ln/>
        </p:spPr>
      </p:sp>
      <p:sp>
        <p:nvSpPr>
          <p:cNvPr id="4" name="Text 2"/>
          <p:cNvSpPr txBox="1"/>
          <p:nvPr/>
        </p:nvSpPr>
        <p:spPr>
          <a:xfrm>
            <a:off x="822960" y="1463040"/>
            <a:ext cx="3657600" cy="73152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fep2d_inline.py</a:t>
            </a:r>
            <a:endParaRPr lang="en-US" sz="1800" dirty="0"/>
          </a:p>
        </p:txBody>
      </p:sp>
      <p:sp>
        <p:nvSpPr>
          <p:cNvPr id="5" name="Text 3"/>
          <p:cNvSpPr txBox="1"/>
          <p:nvPr/>
        </p:nvSpPr>
        <p:spPr>
          <a:xfrm>
            <a:off x="4572000" y="1463040"/>
            <a:ext cx="6858000" cy="731520"/>
          </a:xfrm>
          <a:prstGeom prst="rect">
            <a:avLst/>
          </a:prstGeom>
          <a:noFill/>
          <a:ln/>
        </p:spPr>
        <p:txBody>
          <a:bodyPr wrap="square" lIns="0" tIns="0" rIns="0" bIns="0" rtlCol="0" anchor="ctr"/>
          <a:lstStyle/>
          <a:p>
            <a:pPr indent="0" marL="0">
              <a:buNone/>
            </a:pPr>
            <a:r>
              <a:rPr lang="en-US" sz="1600" dirty="0">
                <a:solidFill>
                  <a:schemeClr val="tx1"/>
                </a:solidFill>
              </a:rPr>
              <a:t>InlineSubtractor class, folder watcher, command line</a:t>
            </a:r>
            <a:endParaRPr lang="en-US" sz="1600" dirty="0"/>
          </a:p>
        </p:txBody>
      </p:sp>
      <p:sp>
        <p:nvSpPr>
          <p:cNvPr id="6" name="File row 2"/>
          <p:cNvSpPr/>
          <p:nvPr/>
        </p:nvSpPr>
        <p:spPr>
          <a:xfrm>
            <a:off x="548640" y="2331720"/>
            <a:ext cx="11064240" cy="731520"/>
          </a:xfrm>
          <a:prstGeom prst="roundRect">
            <a:avLst>
              <a:gd name="adj" fmla="val 15000"/>
            </a:avLst>
          </a:prstGeom>
          <a:solidFill>
            <a:schemeClr val="bg2"/>
          </a:solidFill>
          <a:ln/>
        </p:spPr>
      </p:sp>
      <p:sp>
        <p:nvSpPr>
          <p:cNvPr id="7" name="Text 5"/>
          <p:cNvSpPr txBox="1"/>
          <p:nvPr/>
        </p:nvSpPr>
        <p:spPr>
          <a:xfrm>
            <a:off x="822960" y="2331720"/>
            <a:ext cx="3657600" cy="73152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fep2d_pipeline.py</a:t>
            </a:r>
            <a:endParaRPr lang="en-US" sz="1800" dirty="0"/>
          </a:p>
        </p:txBody>
      </p:sp>
      <p:sp>
        <p:nvSpPr>
          <p:cNvPr id="8" name="Text 6"/>
          <p:cNvSpPr txBox="1"/>
          <p:nvPr/>
        </p:nvSpPr>
        <p:spPr>
          <a:xfrm>
            <a:off x="4572000" y="2331720"/>
            <a:ext cx="6858000" cy="731520"/>
          </a:xfrm>
          <a:prstGeom prst="rect">
            <a:avLst/>
          </a:prstGeom>
          <a:noFill/>
          <a:ln/>
        </p:spPr>
        <p:txBody>
          <a:bodyPr wrap="square" lIns="0" tIns="0" rIns="0" bIns="0" rtlCol="0" anchor="ctr"/>
          <a:lstStyle/>
          <a:p>
            <a:pPr indent="0" marL="0">
              <a:buNone/>
            </a:pPr>
            <a:r>
              <a:rPr lang="en-US" sz="1600" dirty="0">
                <a:solidFill>
                  <a:schemeClr val="tx1"/>
                </a:solidFill>
              </a:rPr>
              <a:t>Shared settings, mask building, reference checks</a:t>
            </a:r>
            <a:endParaRPr lang="en-US" sz="1600" dirty="0"/>
          </a:p>
        </p:txBody>
      </p:sp>
      <p:sp>
        <p:nvSpPr>
          <p:cNvPr id="9" name="File row 3"/>
          <p:cNvSpPr/>
          <p:nvPr/>
        </p:nvSpPr>
        <p:spPr>
          <a:xfrm>
            <a:off x="548640" y="3200400"/>
            <a:ext cx="11064240" cy="731520"/>
          </a:xfrm>
          <a:prstGeom prst="roundRect">
            <a:avLst>
              <a:gd name="adj" fmla="val 15000"/>
            </a:avLst>
          </a:prstGeom>
          <a:solidFill>
            <a:schemeClr val="bg2"/>
          </a:solidFill>
          <a:ln/>
        </p:spPr>
      </p:sp>
      <p:sp>
        <p:nvSpPr>
          <p:cNvPr id="10" name="Text 8"/>
          <p:cNvSpPr txBox="1"/>
          <p:nvPr/>
        </p:nvSpPr>
        <p:spPr>
          <a:xfrm>
            <a:off x="822960" y="3200400"/>
            <a:ext cx="3657600" cy="73152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fep2d_v3.py</a:t>
            </a:r>
            <a:endParaRPr lang="en-US" sz="1800" dirty="0"/>
          </a:p>
        </p:txBody>
      </p:sp>
      <p:sp>
        <p:nvSpPr>
          <p:cNvPr id="11" name="Text 9"/>
          <p:cNvSpPr txBox="1"/>
          <p:nvPr/>
        </p:nvSpPr>
        <p:spPr>
          <a:xfrm>
            <a:off x="4572000" y="3200400"/>
            <a:ext cx="6858000" cy="731520"/>
          </a:xfrm>
          <a:prstGeom prst="rect">
            <a:avLst/>
          </a:prstGeom>
          <a:noFill/>
          <a:ln/>
        </p:spPr>
        <p:txBody>
          <a:bodyPr wrap="square" lIns="0" tIns="0" rIns="0" bIns="0" rtlCol="0" anchor="ctr"/>
          <a:lstStyle/>
          <a:p>
            <a:pPr indent="0" marL="0">
              <a:buNone/>
            </a:pPr>
            <a:r>
              <a:rPr lang="en-US" sz="1600" dirty="0">
                <a:solidFill>
                  <a:schemeClr val="tx1"/>
                </a:solidFill>
              </a:rPr>
              <a:t>Core maths and HDF5 file reading and writing (tested, unchanged)</a:t>
            </a:r>
            <a:endParaRPr lang="en-US" sz="1600" dirty="0"/>
          </a:p>
        </p:txBody>
      </p:sp>
      <p:sp>
        <p:nvSpPr>
          <p:cNvPr id="12" name="Text 10"/>
          <p:cNvSpPr txBox="1"/>
          <p:nvPr/>
        </p:nvSpPr>
        <p:spPr>
          <a:xfrm>
            <a:off x="548640" y="4251960"/>
            <a:ext cx="2743200" cy="365760"/>
          </a:xfrm>
          <a:prstGeom prst="rect">
            <a:avLst/>
          </a:prstGeom>
          <a:noFill/>
          <a:ln/>
        </p:spPr>
        <p:txBody>
          <a:bodyPr wrap="square" lIns="0" tIns="0" rIns="0" bIns="0" rtlCol="0" anchor="t"/>
          <a:lstStyle/>
          <a:p>
            <a:pPr indent="0" marL="0">
              <a:buNone/>
            </a:pPr>
            <a:r>
              <a:rPr lang="en-US" sz="2000" b="1" dirty="0">
                <a:solidFill>
                  <a:schemeClr val="accent1"/>
                </a:solidFill>
              </a:rPr>
              <a:t>Packages</a:t>
            </a:r>
            <a:endParaRPr lang="en-US" sz="2000" dirty="0"/>
          </a:p>
        </p:txBody>
      </p:sp>
      <p:sp>
        <p:nvSpPr>
          <p:cNvPr id="13" name="Text 11"/>
          <p:cNvSpPr txBox="1"/>
          <p:nvPr/>
        </p:nvSpPr>
        <p:spPr>
          <a:xfrm>
            <a:off x="548640" y="4663440"/>
            <a:ext cx="5212080" cy="1280160"/>
          </a:xfrm>
          <a:prstGeom prst="rect">
            <a:avLst/>
          </a:prstGeom>
          <a:noFill/>
          <a:ln/>
        </p:spPr>
        <p:txBody>
          <a:bodyPr wrap="square" lIns="0" tIns="0" rIns="0" bIns="0" rtlCol="0" anchor="t"/>
          <a:lstStyle/>
          <a:p>
            <a:pPr indent="0" marL="0">
              <a:buNone/>
            </a:pPr>
            <a:r>
              <a:rPr lang="en-US" sz="1600" dirty="0">
                <a:solidFill>
                  <a:schemeClr val="tx1"/>
                </a:solidFill>
              </a:rPr>
              <a:t>numpy, scipy, h5py, pyFAI. No GPU. pybaselines is only needed for the offline baselining step, not for this stage.</a:t>
            </a:r>
            <a:endParaRPr lang="en-US" sz="1600" dirty="0"/>
          </a:p>
        </p:txBody>
      </p:sp>
      <p:sp>
        <p:nvSpPr>
          <p:cNvPr id="14" name="Text 12"/>
          <p:cNvSpPr txBox="1"/>
          <p:nvPr/>
        </p:nvSpPr>
        <p:spPr>
          <a:xfrm>
            <a:off x="6309360" y="4251960"/>
            <a:ext cx="5303520" cy="365760"/>
          </a:xfrm>
          <a:prstGeom prst="rect">
            <a:avLst/>
          </a:prstGeom>
          <a:noFill/>
          <a:ln/>
        </p:spPr>
        <p:txBody>
          <a:bodyPr wrap="square" lIns="0" tIns="0" rIns="0" bIns="0" rtlCol="0" anchor="t"/>
          <a:lstStyle/>
          <a:p>
            <a:pPr indent="0" marL="0">
              <a:buNone/>
            </a:pPr>
            <a:r>
              <a:rPr lang="en-US" sz="2000" b="1" dirty="0">
                <a:solidFill>
                  <a:schemeClr val="accent1"/>
                </a:solidFill>
              </a:rPr>
              <a:t>Inputs prepared beforehand</a:t>
            </a:r>
            <a:endParaRPr lang="en-US" sz="2000" dirty="0"/>
          </a:p>
        </p:txBody>
      </p:sp>
      <p:sp>
        <p:nvSpPr>
          <p:cNvPr id="15" name="Text 13"/>
          <p:cNvSpPr txBox="1"/>
          <p:nvPr/>
        </p:nvSpPr>
        <p:spPr>
          <a:xfrm>
            <a:off x="6309360" y="4663440"/>
            <a:ext cx="5303520" cy="1280160"/>
          </a:xfrm>
          <a:prstGeom prst="rect">
            <a:avLst/>
          </a:prstGeom>
          <a:noFill/>
          <a:ln/>
        </p:spPr>
        <p:txBody>
          <a:bodyPr wrap="square" lIns="0" tIns="0" rIns="0" bIns="0" rtlCol="0" anchor="t"/>
          <a:lstStyle/>
          <a:p>
            <a:pPr indent="0" marL="0">
              <a:buNone/>
            </a:pPr>
            <a:r>
              <a:rPr lang="en-US" sz="1600" dirty="0">
                <a:solidFill>
                  <a:schemeClr val="tx1"/>
                </a:solidFill>
              </a:rPr>
              <a:t>Merged reference from about 46 or more tube-only frames. Calibration (.poni) and detector mask from the beamtime calibration.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algorithm</a:t>
            </a:r>
            <a:endParaRPr lang="en-US" sz="3600" dirty="0"/>
          </a:p>
        </p:txBody>
      </p:sp>
      <p:sp>
        <p:nvSpPr>
          <p:cNvPr id="3" name="Step number 1"/>
          <p:cNvSpPr txBox="1"/>
          <p:nvPr/>
        </p:nvSpPr>
        <p:spPr>
          <a:xfrm>
            <a:off x="548640" y="1600200"/>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554480" y="1463040"/>
            <a:ext cx="3657600" cy="411480"/>
          </a:xfrm>
          <a:prstGeom prst="rect">
            <a:avLst/>
          </a:prstGeom>
          <a:noFill/>
          <a:ln/>
        </p:spPr>
        <p:txBody>
          <a:bodyPr wrap="square" lIns="0" tIns="0" rIns="0" bIns="0" rtlCol="0" anchor="t"/>
          <a:lstStyle/>
          <a:p>
            <a:pPr indent="0" marL="0">
              <a:buNone/>
            </a:pPr>
            <a:r>
              <a:rPr lang="en-US" sz="2000" b="1" dirty="0">
                <a:solidFill>
                  <a:schemeClr val="accent1"/>
                </a:solidFill>
              </a:rPr>
              <a:t>Robust scale fit</a:t>
            </a:r>
            <a:endParaRPr lang="en-US" sz="2000" dirty="0"/>
          </a:p>
        </p:txBody>
      </p:sp>
      <p:sp>
        <p:nvSpPr>
          <p:cNvPr id="5" name="Text 3"/>
          <p:cNvSpPr txBox="1"/>
          <p:nvPr/>
        </p:nvSpPr>
        <p:spPr>
          <a:xfrm>
            <a:off x="1554480" y="1920240"/>
            <a:ext cx="10058400" cy="822960"/>
          </a:xfrm>
          <a:prstGeom prst="rect">
            <a:avLst/>
          </a:prstGeom>
          <a:noFill/>
          <a:ln/>
        </p:spPr>
        <p:txBody>
          <a:bodyPr wrap="square" lIns="0" tIns="0" rIns="0" bIns="0" rtlCol="0" anchor="t"/>
          <a:lstStyle/>
          <a:p>
            <a:pPr indent="0" marL="0">
              <a:buNone/>
            </a:pPr>
            <a:r>
              <a:rPr lang="en-US" sz="1600" dirty="0">
                <a:solidFill>
                  <a:schemeClr val="tx1"/>
                </a:solidFill>
              </a:rPr>
              <a:t>s = Σ(frame × ref) / Σ(ref²), over all unmasked pixels. Six passes. Each pass keeps pixels whose residual is below +3σ and above −6σ (σ = 1.4826 × MAD), so Bragg spots do not inflate s.</a:t>
            </a:r>
            <a:endParaRPr lang="en-US" sz="1600" dirty="0"/>
          </a:p>
        </p:txBody>
      </p:sp>
      <p:sp>
        <p:nvSpPr>
          <p:cNvPr id="6" name="Step number 2"/>
          <p:cNvSpPr txBox="1"/>
          <p:nvPr/>
        </p:nvSpPr>
        <p:spPr>
          <a:xfrm>
            <a:off x="548640" y="2926080"/>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5"/>
          <p:cNvSpPr txBox="1"/>
          <p:nvPr/>
        </p:nvSpPr>
        <p:spPr>
          <a:xfrm>
            <a:off x="1554480" y="2788920"/>
            <a:ext cx="3657600" cy="411480"/>
          </a:xfrm>
          <a:prstGeom prst="rect">
            <a:avLst/>
          </a:prstGeom>
          <a:noFill/>
          <a:ln/>
        </p:spPr>
        <p:txBody>
          <a:bodyPr wrap="square" lIns="0" tIns="0" rIns="0" bIns="0" rtlCol="0" anchor="t"/>
          <a:lstStyle/>
          <a:p>
            <a:pPr indent="0" marL="0">
              <a:buNone/>
            </a:pPr>
            <a:r>
              <a:rPr lang="en-US" sz="2000" b="1" dirty="0">
                <a:solidFill>
                  <a:schemeClr val="accent1"/>
                </a:solidFill>
              </a:rPr>
              <a:t>Subtract</a:t>
            </a:r>
            <a:endParaRPr lang="en-US" sz="2000" dirty="0"/>
          </a:p>
        </p:txBody>
      </p:sp>
      <p:sp>
        <p:nvSpPr>
          <p:cNvPr id="8" name="Text 6"/>
          <p:cNvSpPr txBox="1"/>
          <p:nvPr/>
        </p:nvSpPr>
        <p:spPr>
          <a:xfrm>
            <a:off x="1554480" y="3246120"/>
            <a:ext cx="10058400" cy="822960"/>
          </a:xfrm>
          <a:prstGeom prst="rect">
            <a:avLst/>
          </a:prstGeom>
          <a:noFill/>
          <a:ln/>
        </p:spPr>
        <p:txBody>
          <a:bodyPr wrap="square" lIns="0" tIns="0" rIns="0" bIns="0" rtlCol="0" anchor="t"/>
          <a:lstStyle/>
          <a:p>
            <a:pPr indent="0" marL="0">
              <a:buNone/>
            </a:pPr>
            <a:r>
              <a:rPr lang="en-US" sz="1600" dirty="0">
                <a:solidFill>
                  <a:schemeClr val="tx1"/>
                </a:solidFill>
              </a:rPr>
              <a:t>corrected = frame − s × reference. No offset term. Negative values are kept (40 to 50% negative is normal).</a:t>
            </a:r>
            <a:endParaRPr lang="en-US" sz="1600" dirty="0"/>
          </a:p>
        </p:txBody>
      </p:sp>
      <p:sp>
        <p:nvSpPr>
          <p:cNvPr id="9" name="Step number 3"/>
          <p:cNvSpPr txBox="1"/>
          <p:nvPr/>
        </p:nvSpPr>
        <p:spPr>
          <a:xfrm>
            <a:off x="548640" y="4251960"/>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0" name="Text 8"/>
          <p:cNvSpPr txBox="1"/>
          <p:nvPr/>
        </p:nvSpPr>
        <p:spPr>
          <a:xfrm>
            <a:off x="1554480" y="4114800"/>
            <a:ext cx="3657600" cy="411480"/>
          </a:xfrm>
          <a:prstGeom prst="rect">
            <a:avLst/>
          </a:prstGeom>
          <a:noFill/>
          <a:ln/>
        </p:spPr>
        <p:txBody>
          <a:bodyPr wrap="square" lIns="0" tIns="0" rIns="0" bIns="0" rtlCol="0" anchor="t"/>
          <a:lstStyle/>
          <a:p>
            <a:pPr indent="0" marL="0">
              <a:buNone/>
            </a:pPr>
            <a:r>
              <a:rPr lang="en-US" sz="2000" b="1" dirty="0">
                <a:solidFill>
                  <a:schemeClr val="accent1"/>
                </a:solidFill>
              </a:rPr>
              <a:t>Mask</a:t>
            </a:r>
            <a:endParaRPr lang="en-US" sz="2000" dirty="0"/>
          </a:p>
        </p:txBody>
      </p:sp>
      <p:sp>
        <p:nvSpPr>
          <p:cNvPr id="11" name="Text 9"/>
          <p:cNvSpPr txBox="1"/>
          <p:nvPr/>
        </p:nvSpPr>
        <p:spPr>
          <a:xfrm>
            <a:off x="1554480" y="4572000"/>
            <a:ext cx="10058400" cy="822960"/>
          </a:xfrm>
          <a:prstGeom prst="rect">
            <a:avLst/>
          </a:prstGeom>
          <a:noFill/>
          <a:ln/>
        </p:spPr>
        <p:txBody>
          <a:bodyPr wrap="square" lIns="0" tIns="0" rIns="0" bIns="0" rtlCol="0" anchor="t"/>
          <a:lstStyle/>
          <a:p>
            <a:pPr indent="0" marL="0">
              <a:buNone/>
            </a:pPr>
            <a:r>
              <a:rPr lang="en-US" sz="1600" dirty="0">
                <a:solidFill>
                  <a:schemeClr val="tx1"/>
                </a:solidFill>
              </a:rPr>
              <a:t>Detector-bad pixels plus a 2θ ring 5.30 to 6.10° (from the .poni) are set to 0. Output is float32.</a:t>
            </a:r>
            <a:endParaRPr lang="en-US" sz="1600" dirty="0"/>
          </a:p>
        </p:txBody>
      </p:sp>
      <p:sp>
        <p:nvSpPr>
          <p:cNvPr id="12" name="Text 10"/>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400" dirty="0">
                <a:solidFill>
                  <a:schemeClr val="accent5"/>
                </a:solidFill>
              </a:rPr>
              <a:t>Reference: plain mean of screened frames (Welford streaming, float64). Frames with total under 30% of the median, 5-sigma outliers or poor thumbnail correlation are dropped.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Real data: one frame, before and after</a:t>
            </a:r>
            <a:endParaRPr lang="en-US" sz="3600" dirty="0"/>
          </a:p>
        </p:txBody>
      </p:sp>
      <p:pic>
        <p:nvPicPr>
          <p:cNvPr id="3" name="Image 0" descr="Raw detector frame next to the corrected frame">    </p:cNvPr>
          <p:cNvPicPr>
            <a:picLocks noChangeAspect="1"/>
          </p:cNvPicPr>
          <p:nvPr/>
        </p:nvPicPr>
        <p:blipFill>
          <a:blip r:embed="rId1"/>
          <a:stretch>
            <a:fillRect/>
          </a:stretch>
        </p:blipFill>
        <p:spPr>
          <a:xfrm>
            <a:off x="1508760" y="1188720"/>
            <a:ext cx="9144000" cy="4462272"/>
          </a:xfrm>
          <a:prstGeom prst="rect">
            <a:avLst/>
          </a:prstGeom>
        </p:spPr>
      </p:pic>
      <p:sp>
        <p:nvSpPr>
          <p:cNvPr id="4" name="Text 1"/>
          <p:cNvSpPr txBox="1"/>
          <p:nvPr/>
        </p:nvSpPr>
        <p:spPr>
          <a:xfrm>
            <a:off x="548640" y="5852160"/>
            <a:ext cx="11064240" cy="548640"/>
          </a:xfrm>
          <a:prstGeom prst="rect">
            <a:avLst/>
          </a:prstGeom>
          <a:noFill/>
          <a:ln/>
        </p:spPr>
        <p:txBody>
          <a:bodyPr wrap="square" lIns="0" tIns="0" rIns="0" bIns="0" rtlCol="0" anchor="t"/>
          <a:lstStyle/>
          <a:p>
            <a:pPr indent="0" marL="0">
              <a:buNone/>
            </a:pPr>
            <a:r>
              <a:rPr lang="en-US" sz="1300" dirty="0">
                <a:solidFill>
                  <a:schemeClr val="accent5"/>
                </a:solidFill>
              </a:rPr>
              <a:t>Frame 146570, run 007 (seeded carbamazepine, sorted as a hit). White = masked: the 2θ ring 5.30° to 6.10° and the beam stop. The tube rings and solvent background drop out and crystal spots show as small bright marks inside the ring.</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the subtraction removes</a:t>
            </a:r>
            <a:endParaRPr lang="en-US" sz="3600" dirty="0"/>
          </a:p>
        </p:txBody>
      </p:sp>
      <p:pic>
        <p:nvPicPr>
          <p:cNvPr id="3" name="Image 0" descr="Radial profile of the raw and corrected frame">    </p:cNvPr>
          <p:cNvPicPr>
            <a:picLocks noChangeAspect="1"/>
          </p:cNvPicPr>
          <p:nvPr/>
        </p:nvPicPr>
        <p:blipFill>
          <a:blip r:embed="rId1"/>
          <a:stretch>
            <a:fillRect/>
          </a:stretch>
        </p:blipFill>
        <p:spPr>
          <a:xfrm>
            <a:off x="548640" y="1280160"/>
            <a:ext cx="11064240" cy="4105656"/>
          </a:xfrm>
          <a:prstGeom prst="rect">
            <a:avLst/>
          </a:prstGeom>
        </p:spPr>
      </p:pic>
      <p:sp>
        <p:nvSpPr>
          <p:cNvPr id="4" name="Text 1"/>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1400" dirty="0">
                <a:solidFill>
                  <a:schemeClr val="accent5"/>
                </a:solidFill>
              </a:rPr>
              <a:t>Frame 146570 averaged around rings (masked pixels excluded). The sharp tube peaks are gone. A smooth residual remains: about −26 to +12 counts per pixel away from the centre, plus a hump near the beam centre (up to about +60). Baselining follows in the offline app.</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The fitted scale across a real run</a:t>
            </a:r>
            <a:endParaRPr lang="en-US" sz="3600" dirty="0"/>
          </a:p>
        </p:txBody>
      </p:sp>
      <p:pic>
        <p:nvPicPr>
          <p:cNvPr id="3" name="Image 0" descr="Fitted scale factor for each of 138 frames">    </p:cNvPr>
          <p:cNvPicPr>
            <a:picLocks noChangeAspect="1"/>
          </p:cNvPicPr>
          <p:nvPr/>
        </p:nvPicPr>
        <p:blipFill>
          <a:blip r:embed="rId1"/>
          <a:stretch>
            <a:fillRect/>
          </a:stretch>
        </p:blipFill>
        <p:spPr>
          <a:xfrm>
            <a:off x="548640" y="1280160"/>
            <a:ext cx="11064240" cy="3749040"/>
          </a:xfrm>
          <a:prstGeom prst="rect">
            <a:avLst/>
          </a:prstGeom>
        </p:spPr>
      </p:pic>
      <p:sp>
        <p:nvSpPr>
          <p:cNvPr id="4" name="Text 1"/>
          <p:cNvSpPr txBox="1"/>
          <p:nvPr/>
        </p:nvSpPr>
        <p:spPr>
          <a:xfrm>
            <a:off x="548640" y="5212080"/>
            <a:ext cx="11064240" cy="731520"/>
          </a:xfrm>
          <a:prstGeom prst="rect">
            <a:avLst/>
          </a:prstGeom>
          <a:noFill/>
          <a:ln/>
        </p:spPr>
        <p:txBody>
          <a:bodyPr wrap="square" lIns="0" tIns="0" rIns="0" bIns="0" rtlCol="0" anchor="t"/>
          <a:lstStyle/>
          <a:p>
            <a:pPr indent="0" marL="0">
              <a:buNone/>
            </a:pPr>
            <a:r>
              <a:rPr lang="en-US" sz="1600" dirty="0">
                <a:solidFill>
                  <a:schemeClr val="tx1"/>
                </a:solidFill>
              </a:rPr>
              <a:t>Run 007, 138 frames, one reference for all. Median 1.04, range 0.86 to 1.17. The robust fit kept at least 96% of pixels in every frame. All 138 frames were written with no errors.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Using it from your own code</a:t>
            </a:r>
            <a:endParaRPr lang="en-US" sz="3600" dirty="0"/>
          </a:p>
        </p:txBody>
      </p:sp>
      <p:sp>
        <p:nvSpPr>
          <p:cNvPr id="3" name="API code box"/>
          <p:cNvSpPr/>
          <p:nvPr/>
        </p:nvSpPr>
        <p:spPr>
          <a:xfrm>
            <a:off x="548640" y="1417320"/>
            <a:ext cx="11064240" cy="3200400"/>
          </a:xfrm>
          <a:prstGeom prst="roundRect">
            <a:avLst>
              <a:gd name="adj" fmla="val 2857"/>
            </a:avLst>
          </a:prstGeom>
          <a:solidFill>
            <a:schemeClr val="tx2"/>
          </a:solidFill>
          <a:ln/>
        </p:spPr>
      </p:sp>
      <p:sp>
        <p:nvSpPr>
          <p:cNvPr id="4" name="API code"/>
          <p:cNvSpPr txBox="1"/>
          <p:nvPr/>
        </p:nvSpPr>
        <p:spPr>
          <a:xfrm>
            <a:off x="777240" y="1508760"/>
            <a:ext cx="10607040" cy="301752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sub = InlineSubtractor(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fm.load_reference("merged_reference.npz"),</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    pyFAI.load("calib.poni"), np.load("mask.npy"))   # once, &lt;1 s</a:t>
            </a:r>
            <a:endParaRPr lang="en-US" sz="1500" dirty="0"/>
          </a:p>
          <a:p>
            <a:pPr indent="0" marL="0">
              <a:buNone/>
            </a:pP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res = sub.process(frame_2d, name="pixium_146588")   # never raises</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res.ok, res.flags      # False or any flag: look at this frame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res.corrected          # float32 2D array, same shape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res.scale              # fitted scale factor</a:t>
            </a:r>
            <a:endParaRPr lang="en-US" sz="1500" dirty="0"/>
          </a:p>
          <a:p>
            <a:pPr indent="0" marL="0">
              <a:buNone/>
            </a:pP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sub.process_file("pixium_146588.hdf", out_dir)   # read, subtract, write</a:t>
            </a:r>
            <a:endParaRPr lang="en-US" sz="1500" dirty="0"/>
          </a:p>
        </p:txBody>
      </p:sp>
      <p:sp>
        <p:nvSpPr>
          <p:cNvPr id="5" name="Text 3"/>
          <p:cNvSpPr txBox="1"/>
          <p:nvPr/>
        </p:nvSpPr>
        <p:spPr>
          <a:xfrm>
            <a:off x="548640" y="484632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Array mode</a:t>
            </a:r>
            <a:endParaRPr lang="en-US" sz="1800" dirty="0"/>
          </a:p>
        </p:txBody>
      </p:sp>
      <p:sp>
        <p:nvSpPr>
          <p:cNvPr id="6" name="Text 4"/>
          <p:cNvSpPr txBox="1"/>
          <p:nvPr/>
        </p:nvSpPr>
        <p:spPr>
          <a:xfrm>
            <a:off x="548640" y="5257800"/>
            <a:ext cx="3566160" cy="822960"/>
          </a:xfrm>
          <a:prstGeom prst="rect">
            <a:avLst/>
          </a:prstGeom>
          <a:noFill/>
          <a:ln/>
        </p:spPr>
        <p:txBody>
          <a:bodyPr wrap="square" lIns="0" tIns="0" rIns="0" bIns="0" rtlCol="0" anchor="t"/>
          <a:lstStyle/>
          <a:p>
            <a:pPr indent="0" marL="0">
              <a:buNone/>
            </a:pPr>
            <a:r>
              <a:rPr lang="en-US" sz="1500" dirty="0">
                <a:solidFill>
                  <a:schemeClr val="tx1"/>
                </a:solidFill>
              </a:rPr>
              <a:t>pass numpy frames, get arrays back</a:t>
            </a:r>
            <a:endParaRPr lang="en-US" sz="1500" dirty="0"/>
          </a:p>
        </p:txBody>
      </p:sp>
      <p:sp>
        <p:nvSpPr>
          <p:cNvPr id="7" name="Text 5"/>
          <p:cNvSpPr txBox="1"/>
          <p:nvPr/>
        </p:nvSpPr>
        <p:spPr>
          <a:xfrm>
            <a:off x="4297680" y="484632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File mode</a:t>
            </a:r>
            <a:endParaRPr lang="en-US" sz="1800" dirty="0"/>
          </a:p>
        </p:txBody>
      </p:sp>
      <p:sp>
        <p:nvSpPr>
          <p:cNvPr id="8" name="Text 6"/>
          <p:cNvSpPr txBox="1"/>
          <p:nvPr/>
        </p:nvSpPr>
        <p:spPr>
          <a:xfrm>
            <a:off x="4297680" y="5257800"/>
            <a:ext cx="3566160" cy="822960"/>
          </a:xfrm>
          <a:prstGeom prst="rect">
            <a:avLst/>
          </a:prstGeom>
          <a:noFill/>
          <a:ln/>
        </p:spPr>
        <p:txBody>
          <a:bodyPr wrap="square" lIns="0" tIns="0" rIns="0" bIns="0" rtlCol="0" anchor="t"/>
          <a:lstStyle/>
          <a:p>
            <a:pPr indent="0" marL="0">
              <a:buNone/>
            </a:pPr>
            <a:r>
              <a:rPr lang="en-US" sz="1500" dirty="0">
                <a:solidFill>
                  <a:schemeClr val="tx1"/>
                </a:solidFill>
              </a:rPr>
              <a:t>reads .hdf or .nxs, writes the corrected file</a:t>
            </a:r>
            <a:endParaRPr lang="en-US" sz="1500" dirty="0"/>
          </a:p>
        </p:txBody>
      </p:sp>
      <p:sp>
        <p:nvSpPr>
          <p:cNvPr id="9" name="Text 7"/>
          <p:cNvSpPr txBox="1"/>
          <p:nvPr/>
        </p:nvSpPr>
        <p:spPr>
          <a:xfrm>
            <a:off x="8046720" y="484632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Watcher</a:t>
            </a:r>
            <a:endParaRPr lang="en-US" sz="1800" dirty="0"/>
          </a:p>
        </p:txBody>
      </p:sp>
      <p:sp>
        <p:nvSpPr>
          <p:cNvPr id="10" name="Text 8"/>
          <p:cNvSpPr txBox="1"/>
          <p:nvPr/>
        </p:nvSpPr>
        <p:spPr>
          <a:xfrm>
            <a:off x="8046720" y="5257800"/>
            <a:ext cx="3566160" cy="822960"/>
          </a:xfrm>
          <a:prstGeom prst="rect">
            <a:avLst/>
          </a:prstGeom>
          <a:noFill/>
          <a:ln/>
        </p:spPr>
        <p:txBody>
          <a:bodyPr wrap="square" lIns="0" tIns="0" rIns="0" bIns="0" rtlCol="0" anchor="t"/>
          <a:lstStyle/>
          <a:p>
            <a:pPr indent="0" marL="0">
              <a:buNone/>
            </a:pPr>
            <a:r>
              <a:rPr lang="en-US" sz="1500" dirty="0">
                <a:solidFill>
                  <a:schemeClr val="tx1"/>
                </a:solidFill>
              </a:rPr>
              <a:t>python fep2d_inline.py --watch &lt;folder&gt; …</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Checks on every frame</a:t>
            </a:r>
            <a:endParaRPr lang="en-US" sz="3600" dirty="0"/>
          </a:p>
        </p:txBody>
      </p:sp>
      <p:sp>
        <p:nvSpPr>
          <p:cNvPr id="3" name="Column header 1"/>
          <p:cNvSpPr txBox="1"/>
          <p:nvPr/>
        </p:nvSpPr>
        <p:spPr>
          <a:xfrm>
            <a:off x="548640" y="1463040"/>
            <a:ext cx="5394960" cy="731520"/>
          </a:xfrm>
          <a:prstGeom prst="roundRect">
            <a:avLst>
              <a:gd name="adj" fmla="val 15000"/>
            </a:avLst>
          </a:prstGeom>
          <a:solidFill>
            <a:schemeClr val="accent3"/>
          </a:solidFill>
          <a:ln/>
        </p:spPr>
        <p:txBody>
          <a:bodyPr wrap="square" lIns="0" tIns="3810" rIns="0" bIns="0" rtlCol="0" anchor="ctr"/>
          <a:lstStyle/>
          <a:p>
            <a:pPr algn="l" indent="0" marL="0">
              <a:buNone/>
            </a:pPr>
            <a:r>
              <a:rPr lang="en-US" sz="2200" b="1" dirty="0">
                <a:solidFill>
                  <a:schemeClr val="bg1"/>
                </a:solidFill>
              </a:rPr>
              <a:t>Rejected, not written</a:t>
            </a:r>
            <a:endParaRPr lang="en-US" sz="2200" dirty="0"/>
          </a:p>
        </p:txBody>
      </p:sp>
      <p:sp>
        <p:nvSpPr>
          <p:cNvPr id="4" name="Column body 1"/>
          <p:cNvSpPr/>
          <p:nvPr/>
        </p:nvSpPr>
        <p:spPr>
          <a:xfrm>
            <a:off x="548640" y="2331720"/>
            <a:ext cx="5394960" cy="2651760"/>
          </a:xfrm>
          <a:prstGeom prst="roundRect">
            <a:avLst>
              <a:gd name="adj" fmla="val 4138"/>
            </a:avLst>
          </a:prstGeom>
          <a:solidFill>
            <a:schemeClr val="bg2"/>
          </a:solidFill>
          <a:ln/>
        </p:spPr>
      </p:sp>
      <p:sp>
        <p:nvSpPr>
          <p:cNvPr id="5" name="Column list 1"/>
          <p:cNvSpPr txBox="1"/>
          <p:nvPr/>
        </p:nvSpPr>
        <p:spPr>
          <a:xfrm>
            <a:off x="8229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Wrong shape</a:t>
            </a:r>
            <a:endParaRPr lang="en-US" sz="1700" dirty="0"/>
          </a:p>
          <a:p>
            <a:pPr marL="342900" indent="-342900">
              <a:spcAft>
                <a:spcPts val="1000"/>
              </a:spcAft>
              <a:buSzPct val="100000"/>
              <a:buChar char="•"/>
            </a:pPr>
            <a:r>
              <a:rPr lang="en-US" sz="1700" dirty="0">
                <a:solidFill>
                  <a:schemeClr val="tx1"/>
                </a:solidFill>
              </a:rPr>
              <a:t>NaN or infinite pixels</a:t>
            </a:r>
            <a:endParaRPr lang="en-US" sz="1700" dirty="0"/>
          </a:p>
          <a:p>
            <a:pPr marL="342900" indent="-342900">
              <a:spcAft>
                <a:spcPts val="1000"/>
              </a:spcAft>
              <a:buSzPct val="100000"/>
              <a:buChar char="•"/>
            </a:pPr>
            <a:r>
              <a:rPr lang="en-US" sz="1700" dirty="0">
                <a:solidFill>
                  <a:schemeClr val="tx1"/>
                </a:solidFill>
              </a:rPr>
              <a:t>Total under 30% of the reference (dark or shutter closed)</a:t>
            </a:r>
            <a:endParaRPr lang="en-US" sz="1700" dirty="0"/>
          </a:p>
          <a:p>
            <a:pPr marL="342900" indent="-342900">
              <a:spcAft>
                <a:spcPts val="1000"/>
              </a:spcAft>
              <a:buSzPct val="100000"/>
              <a:buChar char="•"/>
            </a:pPr>
            <a:r>
              <a:rPr lang="en-US" sz="1700" dirty="0">
                <a:solidFill>
                  <a:schemeClr val="tx1"/>
                </a:solidFill>
              </a:rPr>
              <a:t>File will not open</a:t>
            </a:r>
            <a:endParaRPr lang="en-US" sz="1700" dirty="0"/>
          </a:p>
        </p:txBody>
      </p:sp>
      <p:sp>
        <p:nvSpPr>
          <p:cNvPr id="6" name="Column header 2"/>
          <p:cNvSpPr txBox="1"/>
          <p:nvPr/>
        </p:nvSpPr>
        <p:spPr>
          <a:xfrm>
            <a:off x="6217920" y="1463040"/>
            <a:ext cx="5394960" cy="731520"/>
          </a:xfrm>
          <a:prstGeom prst="roundRect">
            <a:avLst>
              <a:gd name="adj" fmla="val 15000"/>
            </a:avLst>
          </a:prstGeom>
          <a:solidFill>
            <a:schemeClr val="accent2"/>
          </a:solidFill>
          <a:ln/>
        </p:spPr>
        <p:txBody>
          <a:bodyPr wrap="square" lIns="0" tIns="3810" rIns="0" bIns="0" rtlCol="0" anchor="ctr"/>
          <a:lstStyle/>
          <a:p>
            <a:pPr algn="l" indent="0" marL="0">
              <a:buNone/>
            </a:pPr>
            <a:r>
              <a:rPr lang="en-US" sz="2200" b="1" dirty="0">
                <a:solidFill>
                  <a:schemeClr val="tx2"/>
                </a:solidFill>
              </a:rPr>
              <a:t>Written, but flagged</a:t>
            </a:r>
            <a:endParaRPr lang="en-US" sz="2200" dirty="0"/>
          </a:p>
        </p:txBody>
      </p:sp>
      <p:sp>
        <p:nvSpPr>
          <p:cNvPr id="7" name="Column body 2"/>
          <p:cNvSpPr/>
          <p:nvPr/>
        </p:nvSpPr>
        <p:spPr>
          <a:xfrm>
            <a:off x="6217920" y="2331720"/>
            <a:ext cx="5394960" cy="2651760"/>
          </a:xfrm>
          <a:prstGeom prst="roundRect">
            <a:avLst>
              <a:gd name="adj" fmla="val 4138"/>
            </a:avLst>
          </a:prstGeom>
          <a:solidFill>
            <a:schemeClr val="bg2"/>
          </a:solidFill>
          <a:ln/>
        </p:spPr>
      </p:sp>
      <p:sp>
        <p:nvSpPr>
          <p:cNvPr id="8" name="Column list 2"/>
          <p:cNvSpPr txBox="1"/>
          <p:nvPr/>
        </p:nvSpPr>
        <p:spPr>
          <a:xfrm>
            <a:off x="649224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Scale outside 0.3 to 3.0</a:t>
            </a:r>
            <a:endParaRPr lang="en-US" sz="1700" dirty="0"/>
          </a:p>
          <a:p>
            <a:pPr marL="342900" indent="-342900">
              <a:spcAft>
                <a:spcPts val="1000"/>
              </a:spcAft>
              <a:buSzPct val="100000"/>
              <a:buChar char="•"/>
            </a:pPr>
            <a:r>
              <a:rPr lang="en-US" sz="1700" dirty="0">
                <a:solidFill>
                  <a:schemeClr val="tx1"/>
                </a:solidFill>
              </a:rPr>
              <a:t>Under half the pixels kept by the fit</a:t>
            </a:r>
            <a:endParaRPr lang="en-US" sz="1700" dirty="0"/>
          </a:p>
          <a:p>
            <a:pPr marL="342900" indent="-342900">
              <a:spcAft>
                <a:spcPts val="1000"/>
              </a:spcAft>
              <a:buSzPct val="100000"/>
              <a:buChar char="•"/>
            </a:pPr>
            <a:r>
              <a:rPr lang="en-US" sz="1700" dirty="0">
                <a:solidFill>
                  <a:schemeClr val="tx1"/>
                </a:solidFill>
              </a:rPr>
              <a:t>Scale over 5 robust sigma from the running median (last 200, after 10 frames)</a:t>
            </a:r>
            <a:endParaRPr lang="en-US" sz="1700" dirty="0"/>
          </a:p>
        </p:txBody>
      </p:sp>
      <p:sp>
        <p:nvSpPr>
          <p:cNvPr id="9" name="Text 7"/>
          <p:cNvSpPr txBox="1"/>
          <p:nvPr/>
        </p:nvSpPr>
        <p:spPr>
          <a:xfrm>
            <a:off x="548640" y="5303520"/>
            <a:ext cx="11064240" cy="731520"/>
          </a:xfrm>
          <a:prstGeom prst="rect">
            <a:avLst/>
          </a:prstGeom>
          <a:noFill/>
          <a:ln/>
        </p:spPr>
        <p:txBody>
          <a:bodyPr wrap="square" lIns="0" tIns="0" rIns="0" bIns="0" rtlCol="0" anchor="t"/>
          <a:lstStyle/>
          <a:p>
            <a:pPr indent="0" marL="0">
              <a:buNone/>
            </a:pPr>
            <a:r>
              <a:rPr lang="en-US" sz="1600" b="1" dirty="0">
                <a:solidFill>
                  <a:schemeClr val="accent1"/>
                </a:solidFill>
              </a:rPr>
              <a:t>Start-up also checks the reference (finite, positive, frame count) and that at least 1000 usable pixels remain. A failed frame is skipped and logged, never replaced by the previous one.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What it writes, and how safely</a:t>
            </a:r>
            <a:endParaRPr lang="en-US" sz="3600" dirty="0"/>
          </a:p>
        </p:txBody>
      </p:sp>
      <p:sp>
        <p:nvSpPr>
          <p:cNvPr id="3" name="Output row 1"/>
          <p:cNvSpPr/>
          <p:nvPr/>
        </p:nvSpPr>
        <p:spPr>
          <a:xfrm>
            <a:off x="548640" y="1463040"/>
            <a:ext cx="11064240" cy="731520"/>
          </a:xfrm>
          <a:prstGeom prst="roundRect">
            <a:avLst>
              <a:gd name="adj" fmla="val 15000"/>
            </a:avLst>
          </a:prstGeom>
          <a:solidFill>
            <a:schemeClr val="bg2"/>
          </a:solidFill>
          <a:ln/>
        </p:spPr>
      </p:sp>
      <p:sp>
        <p:nvSpPr>
          <p:cNvPr id="4" name="Text 2"/>
          <p:cNvSpPr txBox="1"/>
          <p:nvPr/>
        </p:nvSpPr>
        <p:spPr>
          <a:xfrm>
            <a:off x="822960" y="1463040"/>
            <a:ext cx="4754880" cy="73152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01_corrected_2D/&lt;raw name&gt;</a:t>
            </a:r>
            <a:endParaRPr lang="en-US" sz="1500" dirty="0"/>
          </a:p>
        </p:txBody>
      </p:sp>
      <p:sp>
        <p:nvSpPr>
          <p:cNvPr id="5" name="Text 3"/>
          <p:cNvSpPr txBox="1"/>
          <p:nvPr/>
        </p:nvSpPr>
        <p:spPr>
          <a:xfrm>
            <a:off x="5669280" y="1463040"/>
            <a:ext cx="5760720" cy="731520"/>
          </a:xfrm>
          <a:prstGeom prst="rect">
            <a:avLst/>
          </a:prstGeom>
          <a:noFill/>
          <a:ln/>
        </p:spPr>
        <p:txBody>
          <a:bodyPr wrap="square" lIns="0" tIns="0" rIns="0" bIns="0" rtlCol="0" anchor="ctr"/>
          <a:lstStyle/>
          <a:p>
            <a:pPr indent="0" marL="0">
              <a:buNone/>
            </a:pPr>
            <a:r>
              <a:rPr lang="en-US" sz="1500" dirty="0">
                <a:solidFill>
                  <a:schemeClr val="tx1"/>
                </a:solidFill>
              </a:rPr>
              <a:t>Corrected frame, self-contained HDF5 (about 59 MB)</a:t>
            </a:r>
            <a:endParaRPr lang="en-US" sz="1500" dirty="0"/>
          </a:p>
        </p:txBody>
      </p:sp>
      <p:sp>
        <p:nvSpPr>
          <p:cNvPr id="6" name="Output row 2"/>
          <p:cNvSpPr/>
          <p:nvPr/>
        </p:nvSpPr>
        <p:spPr>
          <a:xfrm>
            <a:off x="548640" y="2331720"/>
            <a:ext cx="11064240" cy="731520"/>
          </a:xfrm>
          <a:prstGeom prst="roundRect">
            <a:avLst>
              <a:gd name="adj" fmla="val 15000"/>
            </a:avLst>
          </a:prstGeom>
          <a:solidFill>
            <a:schemeClr val="bg2"/>
          </a:solidFill>
          <a:ln/>
        </p:spPr>
      </p:sp>
      <p:sp>
        <p:nvSpPr>
          <p:cNvPr id="7" name="Text 5"/>
          <p:cNvSpPr txBox="1"/>
          <p:nvPr/>
        </p:nvSpPr>
        <p:spPr>
          <a:xfrm>
            <a:off x="822960" y="2331720"/>
            <a:ext cx="4754880" cy="73152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subtraction_diagnostics.csv</a:t>
            </a:r>
            <a:endParaRPr lang="en-US" sz="1500" dirty="0"/>
          </a:p>
        </p:txBody>
      </p:sp>
      <p:sp>
        <p:nvSpPr>
          <p:cNvPr id="8" name="Text 6"/>
          <p:cNvSpPr txBox="1"/>
          <p:nvPr/>
        </p:nvSpPr>
        <p:spPr>
          <a:xfrm>
            <a:off x="5669280" y="2331720"/>
            <a:ext cx="5760720" cy="731520"/>
          </a:xfrm>
          <a:prstGeom prst="rect">
            <a:avLst/>
          </a:prstGeom>
          <a:noFill/>
          <a:ln/>
        </p:spPr>
        <p:txBody>
          <a:bodyPr wrap="square" lIns="0" tIns="0" rIns="0" bIns="0" rtlCol="0" anchor="ctr"/>
          <a:lstStyle/>
          <a:p>
            <a:pPr indent="0" marL="0">
              <a:buNone/>
            </a:pPr>
            <a:r>
              <a:rPr lang="en-US" sz="1500" dirty="0">
                <a:solidFill>
                  <a:schemeClr val="tx1"/>
                </a:solidFill>
              </a:rPr>
              <a:t>Scale, fit fraction, negative fraction, sum per frame</a:t>
            </a:r>
            <a:endParaRPr lang="en-US" sz="1500" dirty="0"/>
          </a:p>
        </p:txBody>
      </p:sp>
      <p:sp>
        <p:nvSpPr>
          <p:cNvPr id="9" name="Output row 3"/>
          <p:cNvSpPr/>
          <p:nvPr/>
        </p:nvSpPr>
        <p:spPr>
          <a:xfrm>
            <a:off x="548640" y="3200400"/>
            <a:ext cx="11064240" cy="731520"/>
          </a:xfrm>
          <a:prstGeom prst="roundRect">
            <a:avLst>
              <a:gd name="adj" fmla="val 15000"/>
            </a:avLst>
          </a:prstGeom>
          <a:solidFill>
            <a:schemeClr val="bg2"/>
          </a:solidFill>
          <a:ln/>
        </p:spPr>
      </p:sp>
      <p:sp>
        <p:nvSpPr>
          <p:cNvPr id="10" name="Text 8"/>
          <p:cNvSpPr txBox="1"/>
          <p:nvPr/>
        </p:nvSpPr>
        <p:spPr>
          <a:xfrm>
            <a:off x="822960" y="3200400"/>
            <a:ext cx="4754880" cy="73152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inline_log.csv</a:t>
            </a:r>
            <a:endParaRPr lang="en-US" sz="1500" dirty="0"/>
          </a:p>
        </p:txBody>
      </p:sp>
      <p:sp>
        <p:nvSpPr>
          <p:cNvPr id="11" name="Text 9"/>
          <p:cNvSpPr txBox="1"/>
          <p:nvPr/>
        </p:nvSpPr>
        <p:spPr>
          <a:xfrm>
            <a:off x="5669280" y="3200400"/>
            <a:ext cx="5760720" cy="731520"/>
          </a:xfrm>
          <a:prstGeom prst="rect">
            <a:avLst/>
          </a:prstGeom>
          <a:noFill/>
          <a:ln/>
        </p:spPr>
        <p:txBody>
          <a:bodyPr wrap="square" lIns="0" tIns="0" rIns="0" bIns="0" rtlCol="0" anchor="ctr"/>
          <a:lstStyle/>
          <a:p>
            <a:pPr indent="0" marL="0">
              <a:buNone/>
            </a:pPr>
            <a:r>
              <a:rPr lang="en-US" sz="1500" dirty="0">
                <a:solidFill>
                  <a:schemeClr val="tx1"/>
                </a:solidFill>
              </a:rPr>
              <a:t>One line per frame: ok, flags, timing, output path</a:t>
            </a:r>
            <a:endParaRPr lang="en-US" sz="1500" dirty="0"/>
          </a:p>
        </p:txBody>
      </p:sp>
      <p:sp>
        <p:nvSpPr>
          <p:cNvPr id="12" name="Output row 4"/>
          <p:cNvSpPr/>
          <p:nvPr/>
        </p:nvSpPr>
        <p:spPr>
          <a:xfrm>
            <a:off x="548640" y="4069080"/>
            <a:ext cx="11064240" cy="731520"/>
          </a:xfrm>
          <a:prstGeom prst="roundRect">
            <a:avLst>
              <a:gd name="adj" fmla="val 15000"/>
            </a:avLst>
          </a:prstGeom>
          <a:solidFill>
            <a:schemeClr val="bg2"/>
          </a:solidFill>
          <a:ln/>
        </p:spPr>
      </p:sp>
      <p:sp>
        <p:nvSpPr>
          <p:cNvPr id="13" name="Text 11"/>
          <p:cNvSpPr txBox="1"/>
          <p:nvPr/>
        </p:nvSpPr>
        <p:spPr>
          <a:xfrm>
            <a:off x="822960" y="4069080"/>
            <a:ext cx="4754880" cy="731520"/>
          </a:xfrm>
          <a:prstGeom prst="rect">
            <a:avLst/>
          </a:prstGeom>
          <a:noFill/>
          <a:ln/>
        </p:spPr>
        <p:txBody>
          <a:bodyPr wrap="square" lIns="0" tIns="0" rIns="0" bIns="0" rtlCol="0" anchor="ctr"/>
          <a:lstStyle/>
          <a:p>
            <a:pPr indent="0" marL="0">
              <a:buNone/>
            </a:pPr>
            <a:r>
              <a:rPr lang="en-US" sz="1500" b="1" dirty="0">
                <a:solidFill>
                  <a:schemeClr val="accent1"/>
                </a:solidFill>
                <a:latin typeface="Courier New" pitchFamily="34" charset="0"/>
                <a:ea typeface="Courier New" pitchFamily="34" charset="-122"/>
                <a:cs typeface="Courier New" pitchFamily="34" charset="-120"/>
              </a:rPr>
              <a:t>inline_manifest.json</a:t>
            </a:r>
            <a:endParaRPr lang="en-US" sz="1500" dirty="0"/>
          </a:p>
        </p:txBody>
      </p:sp>
      <p:sp>
        <p:nvSpPr>
          <p:cNvPr id="14" name="Text 12"/>
          <p:cNvSpPr txBox="1"/>
          <p:nvPr/>
        </p:nvSpPr>
        <p:spPr>
          <a:xfrm>
            <a:off x="5669280" y="4069080"/>
            <a:ext cx="5760720" cy="731520"/>
          </a:xfrm>
          <a:prstGeom prst="rect">
            <a:avLst/>
          </a:prstGeom>
          <a:noFill/>
          <a:ln/>
        </p:spPr>
        <p:txBody>
          <a:bodyPr wrap="square" lIns="0" tIns="0" rIns="0" bIns="0" rtlCol="0" anchor="ctr"/>
          <a:lstStyle/>
          <a:p>
            <a:pPr indent="0" marL="0">
              <a:buNone/>
            </a:pPr>
            <a:r>
              <a:rPr lang="en-US" sz="1500" dirty="0">
                <a:solidFill>
                  <a:schemeClr val="tx1"/>
                </a:solidFill>
              </a:rPr>
              <a:t>Settings, reference and calibration used</a:t>
            </a:r>
            <a:endParaRPr lang="en-US" sz="1500" dirty="0"/>
          </a:p>
        </p:txBody>
      </p:sp>
      <p:sp>
        <p:nvSpPr>
          <p:cNvPr id="15" name="Text 13"/>
          <p:cNvSpPr txBox="1"/>
          <p:nvPr/>
        </p:nvSpPr>
        <p:spPr>
          <a:xfrm>
            <a:off x="548640" y="5074920"/>
            <a:ext cx="11064240" cy="1005840"/>
          </a:xfrm>
          <a:prstGeom prst="rect">
            <a:avLst/>
          </a:prstGeom>
          <a:noFill/>
          <a:ln/>
        </p:spPr>
        <p:txBody>
          <a:bodyPr wrap="square" lIns="0" tIns="0" rIns="0" bIns="0" rtlCol="0" anchor="t"/>
          <a:lstStyle/>
          <a:p>
            <a:pPr indent="0" marL="0">
              <a:buNone/>
            </a:pPr>
            <a:r>
              <a:rPr lang="en-US" sz="1600" dirty="0">
                <a:solidFill>
                  <a:schemeClr val="tx1"/>
                </a:solidFill>
              </a:rPr>
              <a:t>Written under a hidden temporary name, then renamed, so a downstream reader never sees a half-written file. The watcher takes .hdf only, waits for the size to settle and for the file to open, and gives up on a bad file after 60 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Performance and validation</a:t>
            </a:r>
            <a:endParaRPr lang="en-US" sz="3600" dirty="0"/>
          </a:p>
        </p:txBody>
      </p:sp>
      <p:sp>
        <p:nvSpPr>
          <p:cNvPr id="3" name="Stat card 1"/>
          <p:cNvSpPr/>
          <p:nvPr/>
        </p:nvSpPr>
        <p:spPr>
          <a:xfrm>
            <a:off x="548640" y="1463040"/>
            <a:ext cx="2560320" cy="2103120"/>
          </a:xfrm>
          <a:prstGeom prst="roundRect">
            <a:avLst>
              <a:gd name="adj" fmla="val 5217"/>
            </a:avLst>
          </a:prstGeom>
          <a:solidFill>
            <a:schemeClr val="bg2"/>
          </a:solidFill>
          <a:ln/>
        </p:spPr>
      </p:sp>
      <p:sp>
        <p:nvSpPr>
          <p:cNvPr id="4" name="Stat 1"/>
          <p:cNvSpPr txBox="1"/>
          <p:nvPr/>
        </p:nvSpPr>
        <p:spPr>
          <a:xfrm>
            <a:off x="731520" y="1600200"/>
            <a:ext cx="219456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~4.2 s</a:t>
            </a:r>
            <a:endParaRPr lang="en-US" sz="3000" dirty="0"/>
          </a:p>
        </p:txBody>
      </p:sp>
      <p:sp>
        <p:nvSpPr>
          <p:cNvPr id="5" name="Stat label 1"/>
          <p:cNvSpPr txBox="1"/>
          <p:nvPr/>
        </p:nvSpPr>
        <p:spPr>
          <a:xfrm>
            <a:off x="731520" y="2468880"/>
            <a:ext cx="2194560" cy="1005840"/>
          </a:xfrm>
          <a:prstGeom prst="rect">
            <a:avLst/>
          </a:prstGeom>
          <a:noFill/>
          <a:ln/>
        </p:spPr>
        <p:txBody>
          <a:bodyPr wrap="square" lIns="0" tIns="0" rIns="0" bIns="0" rtlCol="0" anchor="t"/>
          <a:lstStyle/>
          <a:p>
            <a:pPr indent="0" marL="0">
              <a:buNone/>
            </a:pPr>
            <a:r>
              <a:rPr lang="en-US" sz="1400" dirty="0">
                <a:solidFill>
                  <a:schemeClr val="tx1"/>
                </a:solidFill>
              </a:rPr>
              <a:t>per frame incl. writing, 2 CPU cores</a:t>
            </a:r>
            <a:endParaRPr lang="en-US" sz="1400" dirty="0"/>
          </a:p>
        </p:txBody>
      </p:sp>
      <p:sp>
        <p:nvSpPr>
          <p:cNvPr id="6" name="Stat card 2"/>
          <p:cNvSpPr/>
          <p:nvPr/>
        </p:nvSpPr>
        <p:spPr>
          <a:xfrm>
            <a:off x="3383280" y="1463040"/>
            <a:ext cx="2560320" cy="2103120"/>
          </a:xfrm>
          <a:prstGeom prst="roundRect">
            <a:avLst>
              <a:gd name="adj" fmla="val 5217"/>
            </a:avLst>
          </a:prstGeom>
          <a:solidFill>
            <a:schemeClr val="bg2"/>
          </a:solidFill>
          <a:ln/>
        </p:spPr>
      </p:sp>
      <p:sp>
        <p:nvSpPr>
          <p:cNvPr id="7" name="Stat 2"/>
          <p:cNvSpPr txBox="1"/>
          <p:nvPr/>
        </p:nvSpPr>
        <p:spPr>
          <a:xfrm>
            <a:off x="3566160" y="1600200"/>
            <a:ext cx="219456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~27 s</a:t>
            </a:r>
            <a:endParaRPr lang="en-US" sz="3000" dirty="0"/>
          </a:p>
        </p:txBody>
      </p:sp>
      <p:sp>
        <p:nvSpPr>
          <p:cNvPr id="8" name="Stat label 2"/>
          <p:cNvSpPr txBox="1"/>
          <p:nvPr/>
        </p:nvSpPr>
        <p:spPr>
          <a:xfrm>
            <a:off x="3566160" y="2468880"/>
            <a:ext cx="2194560" cy="1005840"/>
          </a:xfrm>
          <a:prstGeom prst="rect">
            <a:avLst/>
          </a:prstGeom>
          <a:noFill/>
          <a:ln/>
        </p:spPr>
        <p:txBody>
          <a:bodyPr wrap="square" lIns="0" tIns="0" rIns="0" bIns="0" rtlCol="0" anchor="t"/>
          <a:lstStyle/>
          <a:p>
            <a:pPr indent="0" marL="0">
              <a:buNone/>
            </a:pPr>
            <a:r>
              <a:rPr lang="en-US" sz="1400" dirty="0">
                <a:solidFill>
                  <a:schemeClr val="tx1"/>
                </a:solidFill>
              </a:rPr>
              <a:t>between frames arriving</a:t>
            </a:r>
            <a:endParaRPr lang="en-US" sz="1400" dirty="0"/>
          </a:p>
        </p:txBody>
      </p:sp>
      <p:sp>
        <p:nvSpPr>
          <p:cNvPr id="9" name="Stat card 3"/>
          <p:cNvSpPr/>
          <p:nvPr/>
        </p:nvSpPr>
        <p:spPr>
          <a:xfrm>
            <a:off x="6217920" y="1463040"/>
            <a:ext cx="2560320" cy="2103120"/>
          </a:xfrm>
          <a:prstGeom prst="roundRect">
            <a:avLst>
              <a:gd name="adj" fmla="val 5217"/>
            </a:avLst>
          </a:prstGeom>
          <a:solidFill>
            <a:schemeClr val="bg2"/>
          </a:solidFill>
          <a:ln/>
        </p:spPr>
      </p:sp>
      <p:sp>
        <p:nvSpPr>
          <p:cNvPr id="10" name="Stat 3"/>
          <p:cNvSpPr txBox="1"/>
          <p:nvPr/>
        </p:nvSpPr>
        <p:spPr>
          <a:xfrm>
            <a:off x="6400800" y="1600200"/>
            <a:ext cx="219456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0.0</a:t>
            </a:r>
            <a:endParaRPr lang="en-US" sz="3000" dirty="0"/>
          </a:p>
        </p:txBody>
      </p:sp>
      <p:sp>
        <p:nvSpPr>
          <p:cNvPr id="11" name="Stat label 3"/>
          <p:cNvSpPr txBox="1"/>
          <p:nvPr/>
        </p:nvSpPr>
        <p:spPr>
          <a:xfrm>
            <a:off x="6400800" y="2468880"/>
            <a:ext cx="2194560" cy="1005840"/>
          </a:xfrm>
          <a:prstGeom prst="rect">
            <a:avLst/>
          </a:prstGeom>
          <a:noFill/>
          <a:ln/>
        </p:spPr>
        <p:txBody>
          <a:bodyPr wrap="square" lIns="0" tIns="0" rIns="0" bIns="0" rtlCol="0" anchor="t"/>
          <a:lstStyle/>
          <a:p>
            <a:pPr indent="0" marL="0">
              <a:buNone/>
            </a:pPr>
            <a:r>
              <a:rPr lang="en-US" sz="1400" dirty="0">
                <a:solidFill>
                  <a:schemeClr val="tx1"/>
                </a:solidFill>
              </a:rPr>
              <a:t>pixel difference vs the offline app, 4 real frames</a:t>
            </a:r>
            <a:endParaRPr lang="en-US" sz="1400" dirty="0"/>
          </a:p>
        </p:txBody>
      </p:sp>
      <p:sp>
        <p:nvSpPr>
          <p:cNvPr id="12" name="Stat card 4"/>
          <p:cNvSpPr/>
          <p:nvPr/>
        </p:nvSpPr>
        <p:spPr>
          <a:xfrm>
            <a:off x="9052560" y="1463040"/>
            <a:ext cx="2560320" cy="2103120"/>
          </a:xfrm>
          <a:prstGeom prst="roundRect">
            <a:avLst>
              <a:gd name="adj" fmla="val 5217"/>
            </a:avLst>
          </a:prstGeom>
          <a:solidFill>
            <a:schemeClr val="bg2"/>
          </a:solidFill>
          <a:ln/>
        </p:spPr>
      </p:sp>
      <p:sp>
        <p:nvSpPr>
          <p:cNvPr id="13" name="Stat 4"/>
          <p:cNvSpPr txBox="1"/>
          <p:nvPr/>
        </p:nvSpPr>
        <p:spPr>
          <a:xfrm>
            <a:off x="9235440" y="1600200"/>
            <a:ext cx="2194560" cy="7772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0.88–1.17</a:t>
            </a:r>
            <a:endParaRPr lang="en-US" sz="3000" dirty="0"/>
          </a:p>
        </p:txBody>
      </p:sp>
      <p:sp>
        <p:nvSpPr>
          <p:cNvPr id="14" name="Stat label 4"/>
          <p:cNvSpPr txBox="1"/>
          <p:nvPr/>
        </p:nvSpPr>
        <p:spPr>
          <a:xfrm>
            <a:off x="9235440" y="2468880"/>
            <a:ext cx="2194560" cy="1005840"/>
          </a:xfrm>
          <a:prstGeom prst="rect">
            <a:avLst/>
          </a:prstGeom>
          <a:noFill/>
          <a:ln/>
        </p:spPr>
        <p:txBody>
          <a:bodyPr wrap="square" lIns="0" tIns="0" rIns="0" bIns="0" rtlCol="0" anchor="t"/>
          <a:lstStyle/>
          <a:p>
            <a:pPr indent="0" marL="0">
              <a:buNone/>
            </a:pPr>
            <a:r>
              <a:rPr lang="en-US" sz="1400" dirty="0">
                <a:solidFill>
                  <a:schemeClr val="tx1"/>
                </a:solidFill>
              </a:rPr>
              <a:t>scale range over 96 frames (1 drift flag)</a:t>
            </a:r>
            <a:endParaRPr lang="en-US" sz="1400" dirty="0"/>
          </a:p>
        </p:txBody>
      </p:sp>
      <p:sp>
        <p:nvSpPr>
          <p:cNvPr id="15" name="Text 13"/>
          <p:cNvSpPr txBox="1"/>
          <p:nvPr/>
        </p:nvSpPr>
        <p:spPr>
          <a:xfrm>
            <a:off x="548640" y="3931920"/>
            <a:ext cx="4572000" cy="365760"/>
          </a:xfrm>
          <a:prstGeom prst="rect">
            <a:avLst/>
          </a:prstGeom>
          <a:noFill/>
          <a:ln/>
        </p:spPr>
        <p:txBody>
          <a:bodyPr wrap="square" lIns="0" tIns="0" rIns="0" bIns="0" rtlCol="0" anchor="t"/>
          <a:lstStyle/>
          <a:p>
            <a:pPr indent="0" marL="0">
              <a:buNone/>
            </a:pPr>
            <a:r>
              <a:rPr lang="en-US" sz="2000" b="1" dirty="0">
                <a:solidFill>
                  <a:schemeClr val="accent3"/>
                </a:solidFill>
              </a:rPr>
              <a:t>Not yet measured</a:t>
            </a:r>
            <a:endParaRPr lang="en-US" sz="2000" dirty="0"/>
          </a:p>
        </p:txBody>
      </p:sp>
      <p:sp>
        <p:nvSpPr>
          <p:cNvPr id="16" name="Text 14"/>
          <p:cNvSpPr txBox="1"/>
          <p:nvPr/>
        </p:nvSpPr>
        <p:spPr>
          <a:xfrm>
            <a:off x="548640" y="4389120"/>
            <a:ext cx="11064240" cy="822960"/>
          </a:xfrm>
          <a:prstGeom prst="rect">
            <a:avLst/>
          </a:prstGeom>
          <a:noFill/>
          <a:ln/>
        </p:spPr>
        <p:txBody>
          <a:bodyPr wrap="square" lIns="0" tIns="0" rIns="0" bIns="0" rtlCol="0" anchor="t"/>
          <a:lstStyle/>
          <a:p>
            <a:pPr indent="0" marL="0">
              <a:buNone/>
            </a:pPr>
            <a:r>
              <a:rPr lang="en-US" sz="1700" dirty="0">
                <a:solidFill>
                  <a:schemeClr val="tx1"/>
                </a:solidFill>
              </a:rPr>
              <a:t>Peak memory (a float64 detector array is about 66 MB, so a few of those); behaviour on a live feed; concurrent use.</a:t>
            </a:r>
            <a:endParaRPr lang="en-US" sz="1700" dirty="0"/>
          </a:p>
        </p:txBody>
      </p:sp>
      <p:sp>
        <p:nvSpPr>
          <p:cNvPr id="17" name="Text 15"/>
          <p:cNvSpPr txBox="1"/>
          <p:nvPr/>
        </p:nvSpPr>
        <p:spPr>
          <a:xfrm>
            <a:off x="548640" y="5303520"/>
            <a:ext cx="11064240" cy="548640"/>
          </a:xfrm>
          <a:prstGeom prst="rect">
            <a:avLst/>
          </a:prstGeom>
          <a:noFill/>
          <a:ln/>
        </p:spPr>
        <p:txBody>
          <a:bodyPr wrap="square" lIns="0" tIns="0" rIns="0" bIns="0" rtlCol="0" anchor="t"/>
          <a:lstStyle/>
          <a:p>
            <a:pPr indent="0" marL="0">
              <a:buNone/>
            </a:pPr>
            <a:r>
              <a:rPr lang="en-US" sz="1400" dirty="0">
                <a:solidFill>
                  <a:schemeClr val="accent5"/>
                </a:solidFill>
              </a:rPr>
              <a:t>Timings are from the tested set-up (AP39 carbamazepine frames), not from beamline hardware.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rPr>
              <a:t>Limits to know about</a:t>
            </a:r>
            <a:endParaRPr lang="en-US" sz="3600" dirty="0"/>
          </a:p>
        </p:txBody>
      </p:sp>
      <p:sp>
        <p:nvSpPr>
          <p:cNvPr id="3" name="Row 1"/>
          <p:cNvSpPr/>
          <p:nvPr/>
        </p:nvSpPr>
        <p:spPr>
          <a:xfrm>
            <a:off x="548640" y="1463040"/>
            <a:ext cx="11064240" cy="1024128"/>
          </a:xfrm>
          <a:prstGeom prst="roundRect">
            <a:avLst>
              <a:gd name="adj" fmla="val 8929"/>
            </a:avLst>
          </a:prstGeom>
          <a:solidFill>
            <a:schemeClr val="bg2"/>
          </a:solidFill>
          <a:ln/>
        </p:spPr>
      </p:sp>
      <p:sp>
        <p:nvSpPr>
          <p:cNvPr id="4" name="Row heading 1"/>
          <p:cNvSpPr txBox="1"/>
          <p:nvPr/>
        </p:nvSpPr>
        <p:spPr>
          <a:xfrm>
            <a:off x="822960" y="1463040"/>
            <a:ext cx="3291840" cy="1024128"/>
          </a:xfrm>
          <a:prstGeom prst="rect">
            <a:avLst/>
          </a:prstGeom>
          <a:noFill/>
          <a:ln/>
        </p:spPr>
        <p:txBody>
          <a:bodyPr wrap="square" lIns="0" tIns="0" rIns="0" bIns="0" rtlCol="0" anchor="ctr"/>
          <a:lstStyle/>
          <a:p>
            <a:pPr indent="0" marL="0">
              <a:buNone/>
            </a:pPr>
            <a:r>
              <a:rPr lang="en-US" sz="2000" b="1" dirty="0">
                <a:solidFill>
                  <a:schemeClr val="accent1"/>
                </a:solidFill>
              </a:rPr>
              <a:t>Reference must match</a:t>
            </a:r>
            <a:endParaRPr lang="en-US" sz="2000" dirty="0"/>
          </a:p>
        </p:txBody>
      </p:sp>
      <p:sp>
        <p:nvSpPr>
          <p:cNvPr id="5" name="Row text 1"/>
          <p:cNvSpPr txBox="1"/>
          <p:nvPr/>
        </p:nvSpPr>
        <p:spPr>
          <a:xfrm>
            <a:off x="4297680" y="1463040"/>
            <a:ext cx="7132320" cy="1024128"/>
          </a:xfrm>
          <a:prstGeom prst="rect">
            <a:avLst/>
          </a:prstGeom>
          <a:noFill/>
          <a:ln/>
        </p:spPr>
        <p:txBody>
          <a:bodyPr wrap="square" lIns="0" tIns="0" rIns="0" bIns="0" rtlCol="0" anchor="ctr"/>
          <a:lstStyle/>
          <a:p>
            <a:pPr indent="0" marL="0">
              <a:buNone/>
            </a:pPr>
            <a:r>
              <a:rPr lang="en-US" sz="1600" dirty="0">
                <a:solidFill>
                  <a:schemeClr val="tx1"/>
                </a:solidFill>
              </a:rPr>
              <a:t>Same tube, solvent and geometry. Rebuild after any change. Drifting scale is the warning.</a:t>
            </a:r>
            <a:endParaRPr lang="en-US" sz="1600" dirty="0"/>
          </a:p>
        </p:txBody>
      </p:sp>
      <p:sp>
        <p:nvSpPr>
          <p:cNvPr id="6" name="Row 2"/>
          <p:cNvSpPr/>
          <p:nvPr/>
        </p:nvSpPr>
        <p:spPr>
          <a:xfrm>
            <a:off x="548640" y="2633472"/>
            <a:ext cx="11064240" cy="1024128"/>
          </a:xfrm>
          <a:prstGeom prst="roundRect">
            <a:avLst>
              <a:gd name="adj" fmla="val 8929"/>
            </a:avLst>
          </a:prstGeom>
          <a:solidFill>
            <a:schemeClr val="bg1"/>
          </a:solidFill>
          <a:ln/>
        </p:spPr>
      </p:sp>
      <p:sp>
        <p:nvSpPr>
          <p:cNvPr id="7" name="Row heading 2"/>
          <p:cNvSpPr txBox="1"/>
          <p:nvPr/>
        </p:nvSpPr>
        <p:spPr>
          <a:xfrm>
            <a:off x="822960" y="2633472"/>
            <a:ext cx="3291840" cy="1024128"/>
          </a:xfrm>
          <a:prstGeom prst="rect">
            <a:avLst/>
          </a:prstGeom>
          <a:noFill/>
          <a:ln/>
        </p:spPr>
        <p:txBody>
          <a:bodyPr wrap="square" lIns="0" tIns="0" rIns="0" bIns="0" rtlCol="0" anchor="ctr"/>
          <a:lstStyle/>
          <a:p>
            <a:pPr indent="0" marL="0">
              <a:buNone/>
            </a:pPr>
            <a:r>
              <a:rPr lang="en-US" sz="2000" b="1" dirty="0">
                <a:solidFill>
                  <a:schemeClr val="accent1"/>
                </a:solidFill>
              </a:rPr>
              <a:t>Blind window</a:t>
            </a:r>
            <a:endParaRPr lang="en-US" sz="2000" dirty="0"/>
          </a:p>
        </p:txBody>
      </p:sp>
      <p:sp>
        <p:nvSpPr>
          <p:cNvPr id="8" name="Row text 2"/>
          <p:cNvSpPr txBox="1"/>
          <p:nvPr/>
        </p:nvSpPr>
        <p:spPr>
          <a:xfrm>
            <a:off x="4297680" y="2633472"/>
            <a:ext cx="7132320" cy="1024128"/>
          </a:xfrm>
          <a:prstGeom prst="rect">
            <a:avLst/>
          </a:prstGeom>
          <a:noFill/>
          <a:ln/>
        </p:spPr>
        <p:txBody>
          <a:bodyPr wrap="square" lIns="0" tIns="0" rIns="0" bIns="0" rtlCol="0" anchor="ctr"/>
          <a:lstStyle/>
          <a:p>
            <a:pPr indent="0" marL="0">
              <a:buNone/>
            </a:pPr>
            <a:r>
              <a:rPr lang="en-US" sz="1600" dirty="0">
                <a:solidFill>
                  <a:schemeClr val="tx1"/>
                </a:solidFill>
              </a:rPr>
              <a:t>5.30 to 6.10° is set to 0. A crystal peak there is invisible, so treat it as missing, not as no signal.</a:t>
            </a:r>
            <a:endParaRPr lang="en-US" sz="1600" dirty="0"/>
          </a:p>
        </p:txBody>
      </p:sp>
      <p:sp>
        <p:nvSpPr>
          <p:cNvPr id="9" name="Row 3"/>
          <p:cNvSpPr/>
          <p:nvPr/>
        </p:nvSpPr>
        <p:spPr>
          <a:xfrm>
            <a:off x="548640" y="3803904"/>
            <a:ext cx="11064240" cy="1024128"/>
          </a:xfrm>
          <a:prstGeom prst="roundRect">
            <a:avLst>
              <a:gd name="adj" fmla="val 8929"/>
            </a:avLst>
          </a:prstGeom>
          <a:solidFill>
            <a:schemeClr val="bg2"/>
          </a:solidFill>
          <a:ln/>
        </p:spPr>
      </p:sp>
      <p:sp>
        <p:nvSpPr>
          <p:cNvPr id="10" name="Row heading 3"/>
          <p:cNvSpPr txBox="1"/>
          <p:nvPr/>
        </p:nvSpPr>
        <p:spPr>
          <a:xfrm>
            <a:off x="822960" y="3803904"/>
            <a:ext cx="3291840" cy="1024128"/>
          </a:xfrm>
          <a:prstGeom prst="rect">
            <a:avLst/>
          </a:prstGeom>
          <a:noFill/>
          <a:ln/>
        </p:spPr>
        <p:txBody>
          <a:bodyPr wrap="square" lIns="0" tIns="0" rIns="0" bIns="0" rtlCol="0" anchor="ctr"/>
          <a:lstStyle/>
          <a:p>
            <a:pPr indent="0" marL="0">
              <a:buNone/>
            </a:pPr>
            <a:r>
              <a:rPr lang="en-US" sz="2000" b="1" dirty="0">
                <a:solidFill>
                  <a:schemeClr val="accent1"/>
                </a:solidFill>
              </a:rPr>
              <a:t>Frame-to-frame order</a:t>
            </a:r>
            <a:endParaRPr lang="en-US" sz="2000" dirty="0"/>
          </a:p>
        </p:txBody>
      </p:sp>
      <p:sp>
        <p:nvSpPr>
          <p:cNvPr id="11" name="Row text 3"/>
          <p:cNvSpPr txBox="1"/>
          <p:nvPr/>
        </p:nvSpPr>
        <p:spPr>
          <a:xfrm>
            <a:off x="4297680" y="3803904"/>
            <a:ext cx="7132320" cy="1024128"/>
          </a:xfrm>
          <a:prstGeom prst="rect">
            <a:avLst/>
          </a:prstGeom>
          <a:noFill/>
          <a:ln/>
        </p:spPr>
        <p:txBody>
          <a:bodyPr wrap="square" lIns="0" tIns="0" rIns="0" bIns="0" rtlCol="0" anchor="ctr"/>
          <a:lstStyle/>
          <a:p>
            <a:pPr indent="0" marL="0">
              <a:buNone/>
            </a:pPr>
            <a:r>
              <a:rPr lang="en-US" sz="1600" dirty="0">
                <a:solidFill>
                  <a:schemeClr val="tx1"/>
                </a:solidFill>
              </a:rPr>
              <a:t>Scale history is per object and ordered; it is not shared across processes.</a:t>
            </a:r>
            <a:endParaRPr lang="en-US" sz="1600" dirty="0"/>
          </a:p>
        </p:txBody>
      </p:sp>
      <p:sp>
        <p:nvSpPr>
          <p:cNvPr id="12" name="Row 4"/>
          <p:cNvSpPr/>
          <p:nvPr/>
        </p:nvSpPr>
        <p:spPr>
          <a:xfrm>
            <a:off x="548640" y="4974336"/>
            <a:ext cx="11064240" cy="1024128"/>
          </a:xfrm>
          <a:prstGeom prst="roundRect">
            <a:avLst>
              <a:gd name="adj" fmla="val 8929"/>
            </a:avLst>
          </a:prstGeom>
          <a:solidFill>
            <a:schemeClr val="bg1"/>
          </a:solidFill>
          <a:ln/>
        </p:spPr>
      </p:sp>
      <p:sp>
        <p:nvSpPr>
          <p:cNvPr id="13" name="Row heading 4"/>
          <p:cNvSpPr txBox="1"/>
          <p:nvPr/>
        </p:nvSpPr>
        <p:spPr>
          <a:xfrm>
            <a:off x="822960" y="4974336"/>
            <a:ext cx="3291840" cy="1024128"/>
          </a:xfrm>
          <a:prstGeom prst="rect">
            <a:avLst/>
          </a:prstGeom>
          <a:noFill/>
          <a:ln/>
        </p:spPr>
        <p:txBody>
          <a:bodyPr wrap="square" lIns="0" tIns="0" rIns="0" bIns="0" rtlCol="0" anchor="ctr"/>
          <a:lstStyle/>
          <a:p>
            <a:pPr indent="0" marL="0">
              <a:buNone/>
            </a:pPr>
            <a:r>
              <a:rPr lang="en-US" sz="2000" b="1" dirty="0">
                <a:solidFill>
                  <a:schemeClr val="accent1"/>
                </a:solidFill>
              </a:rPr>
              <a:t>Scope</a:t>
            </a:r>
            <a:endParaRPr lang="en-US" sz="2000" dirty="0"/>
          </a:p>
        </p:txBody>
      </p:sp>
      <p:sp>
        <p:nvSpPr>
          <p:cNvPr id="14" name="Row text 4"/>
          <p:cNvSpPr txBox="1"/>
          <p:nvPr/>
        </p:nvSpPr>
        <p:spPr>
          <a:xfrm>
            <a:off x="4297680" y="4974336"/>
            <a:ext cx="7132320" cy="1024128"/>
          </a:xfrm>
          <a:prstGeom prst="rect">
            <a:avLst/>
          </a:prstGeom>
          <a:noFill/>
          <a:ln/>
        </p:spPr>
        <p:txBody>
          <a:bodyPr wrap="square" lIns="0" tIns="0" rIns="0" bIns="0" rtlCol="0" anchor="ctr"/>
          <a:lstStyle/>
          <a:p>
            <a:pPr indent="0" marL="0">
              <a:buNone/>
            </a:pPr>
            <a:r>
              <a:rPr lang="en-US" sz="1600" dirty="0">
                <a:solidFill>
                  <a:schemeClr val="tx1"/>
                </a:solidFill>
              </a:rPr>
              <a:t>No hit sorting, no integration, no baselining at this stage.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4000" b="1" dirty="0">
                <a:solidFill>
                  <a:schemeClr val="bg1"/>
                </a:solidFill>
              </a:rPr>
              <a:t>Questions for you</a:t>
            </a:r>
            <a:endParaRPr lang="en-US" sz="4000" dirty="0"/>
          </a:p>
        </p:txBody>
      </p:sp>
      <p:sp>
        <p:nvSpPr>
          <p:cNvPr id="3" name="Question number 1"/>
          <p:cNvSpPr txBox="1"/>
          <p:nvPr/>
        </p:nvSpPr>
        <p:spPr>
          <a:xfrm>
            <a:off x="731520" y="1554480"/>
            <a:ext cx="7315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4" name="Question 1"/>
          <p:cNvSpPr txBox="1"/>
          <p:nvPr/>
        </p:nvSpPr>
        <p:spPr>
          <a:xfrm>
            <a:off x="1645920" y="1554480"/>
            <a:ext cx="9784080" cy="822960"/>
          </a:xfrm>
          <a:prstGeom prst="rect">
            <a:avLst/>
          </a:prstGeom>
          <a:noFill/>
          <a:ln/>
        </p:spPr>
        <p:txBody>
          <a:bodyPr wrap="square" lIns="0" tIns="0" rIns="0" bIns="0" rtlCol="0" anchor="ctr"/>
          <a:lstStyle/>
          <a:p>
            <a:pPr indent="0" marL="0">
              <a:buNone/>
            </a:pPr>
            <a:r>
              <a:rPr lang="en-US" sz="2200" dirty="0">
                <a:solidFill>
                  <a:schemeClr val="bg1"/>
                </a:solidFill>
              </a:rPr>
              <a:t>Frames: watch a folder of files, or pass arrays from your acquisition code?</a:t>
            </a:r>
            <a:endParaRPr lang="en-US" sz="2200" dirty="0"/>
          </a:p>
        </p:txBody>
      </p:sp>
      <p:sp>
        <p:nvSpPr>
          <p:cNvPr id="5" name="Question number 2"/>
          <p:cNvSpPr txBox="1"/>
          <p:nvPr/>
        </p:nvSpPr>
        <p:spPr>
          <a:xfrm>
            <a:off x="731520" y="2560320"/>
            <a:ext cx="7315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a:t>
            </a:r>
            <a:endParaRPr lang="en-US" sz="4000" dirty="0"/>
          </a:p>
        </p:txBody>
      </p:sp>
      <p:sp>
        <p:nvSpPr>
          <p:cNvPr id="6" name="Question 2"/>
          <p:cNvSpPr txBox="1"/>
          <p:nvPr/>
        </p:nvSpPr>
        <p:spPr>
          <a:xfrm>
            <a:off x="1645920" y="2560320"/>
            <a:ext cx="9784080" cy="822960"/>
          </a:xfrm>
          <a:prstGeom prst="rect">
            <a:avLst/>
          </a:prstGeom>
          <a:noFill/>
          <a:ln/>
        </p:spPr>
        <p:txBody>
          <a:bodyPr wrap="square" lIns="0" tIns="0" rIns="0" bIns="0" rtlCol="0" anchor="ctr"/>
          <a:lstStyle/>
          <a:p>
            <a:pPr indent="0" marL="0">
              <a:buNone/>
            </a:pPr>
            <a:r>
              <a:rPr lang="en-US" sz="2200" dirty="0">
                <a:solidFill>
                  <a:schemeClr val="bg1"/>
                </a:solidFill>
              </a:rPr>
              <a:t>Where would this run, and how many cores and how much disk are available?</a:t>
            </a:r>
            <a:endParaRPr lang="en-US" sz="2200" dirty="0"/>
          </a:p>
        </p:txBody>
      </p:sp>
      <p:sp>
        <p:nvSpPr>
          <p:cNvPr id="7" name="Question number 3"/>
          <p:cNvSpPr txBox="1"/>
          <p:nvPr/>
        </p:nvSpPr>
        <p:spPr>
          <a:xfrm>
            <a:off x="731520" y="3566160"/>
            <a:ext cx="7315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a:t>
            </a:r>
            <a:endParaRPr lang="en-US" sz="4000" dirty="0"/>
          </a:p>
        </p:txBody>
      </p:sp>
      <p:sp>
        <p:nvSpPr>
          <p:cNvPr id="8" name="Question 3"/>
          <p:cNvSpPr txBox="1"/>
          <p:nvPr/>
        </p:nvSpPr>
        <p:spPr>
          <a:xfrm>
            <a:off x="1645920" y="3566160"/>
            <a:ext cx="9784080" cy="822960"/>
          </a:xfrm>
          <a:prstGeom prst="rect">
            <a:avLst/>
          </a:prstGeom>
          <a:noFill/>
          <a:ln/>
        </p:spPr>
        <p:txBody>
          <a:bodyPr wrap="square" lIns="0" tIns="0" rIns="0" bIns="0" rtlCol="0" anchor="ctr"/>
          <a:lstStyle/>
          <a:p>
            <a:pPr indent="0" marL="0">
              <a:buNone/>
            </a:pPr>
            <a:r>
              <a:rPr lang="en-US" sz="2200" dirty="0">
                <a:solidFill>
                  <a:schemeClr val="bg1"/>
                </a:solidFill>
              </a:rPr>
              <a:t>Where do flags and failures go: log file only, or an alert to the beamline team?</a:t>
            </a:r>
            <a:endParaRPr lang="en-US" sz="2200" dirty="0"/>
          </a:p>
        </p:txBody>
      </p:sp>
      <p:sp>
        <p:nvSpPr>
          <p:cNvPr id="9" name="Question number 4"/>
          <p:cNvSpPr txBox="1"/>
          <p:nvPr/>
        </p:nvSpPr>
        <p:spPr>
          <a:xfrm>
            <a:off x="731520" y="4572000"/>
            <a:ext cx="7315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p:txBody>
      </p:sp>
      <p:sp>
        <p:nvSpPr>
          <p:cNvPr id="10" name="Question 4"/>
          <p:cNvSpPr txBox="1"/>
          <p:nvPr/>
        </p:nvSpPr>
        <p:spPr>
          <a:xfrm>
            <a:off x="1645920" y="4572000"/>
            <a:ext cx="9784080" cy="822960"/>
          </a:xfrm>
          <a:prstGeom prst="rect">
            <a:avLst/>
          </a:prstGeom>
          <a:noFill/>
          <a:ln/>
        </p:spPr>
        <p:txBody>
          <a:bodyPr wrap="square" lIns="0" tIns="0" rIns="0" bIns="0" rtlCol="0" anchor="ctr"/>
          <a:lstStyle/>
          <a:p>
            <a:pPr indent="0" marL="0">
              <a:buNone/>
            </a:pPr>
            <a:r>
              <a:rPr lang="en-US" sz="2200" dirty="0">
                <a:solidFill>
                  <a:schemeClr val="bg1"/>
                </a:solidFill>
              </a:rPr>
              <a:t>Reference handling: who builds it, and how is a mismatch detected and refreshed mid-run?</a:t>
            </a:r>
            <a:endParaRPr lang="en-US" sz="2200" dirty="0"/>
          </a:p>
        </p:txBody>
      </p:sp>
    </p:spTree>
  </p:cSld>
  <p:clrMapOvr>
    <a:masterClrMapping/>
  </p:clrMapOvr>
</p:sld>
</file>

<file path=ppt/theme/theme1.xml><?xml version="1.0" encoding="utf-8"?>
<a:theme xmlns:a="http://schemas.openxmlformats.org/drawingml/2006/main" name="Diffraction Teal">
  <a:themeElements>
    <a:clrScheme name="Diffraction Teal">
      <a:dk1>
        <a:srgbClr val="1B2B2F"/>
      </a:dk1>
      <a:lt1>
        <a:srgbClr val="FFFFFF"/>
      </a:lt1>
      <a:dk2>
        <a:srgbClr val="0E2A30"/>
      </a:dk2>
      <a:lt2>
        <a:srgbClr val="EAF2F1"/>
      </a:lt2>
      <a:accent1>
        <a:srgbClr val="1F7A7A"/>
      </a:accent1>
      <a:accent2>
        <a:srgbClr val="F2A33A"/>
      </a:accent2>
      <a:accent3>
        <a:srgbClr val="C8553D"/>
      </a:accent3>
      <a:accent4>
        <a:srgbClr val="6FB3B0"/>
      </a:accent4>
      <a:accent5>
        <a:srgbClr val="5B6B70"/>
      </a:accent5>
      <a:accent6>
        <a:srgbClr val="9AA9AC"/>
      </a:accent6>
      <a:hlink>
        <a:srgbClr val="1F7A7A"/>
      </a:hlink>
      <a:folHlink>
        <a:srgbClr val="5B6B70"/>
      </a:folHlink>
    </a:clrScheme>
    <a:fontScheme name="Diffraction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FEP frame subtraction: engineering handover</dc:title>
  <dc:subject>PptxGenJS Presentation</dc:subject>
  <dc:creator>Scarlett</dc:creator>
  <cp:lastModifiedBy>Scarlett</cp:lastModifiedBy>
  <cp:revision>1</cp:revision>
  <dcterms:created xsi:type="dcterms:W3CDTF">2026-10-20T12:39:14Z</dcterms:created>
  <dcterms:modified xsi:type="dcterms:W3CDTF">2026-10-20T12:39:14Z</dcterms:modified>
</cp:coreProperties>
</file>